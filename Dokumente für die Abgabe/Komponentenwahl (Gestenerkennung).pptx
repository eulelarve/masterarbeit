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74" r:id="rId6"/>
    <p:sldId id="275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2" r:id="rId19"/>
    <p:sldId id="278" r:id="rId20"/>
    <p:sldId id="281" r:id="rId21"/>
    <p:sldId id="276" r:id="rId22"/>
    <p:sldId id="277" r:id="rId23"/>
    <p:sldId id="273" r:id="rId24"/>
    <p:sldId id="284" r:id="rId25"/>
    <p:sldId id="271" r:id="rId26"/>
    <p:sldId id="279" r:id="rId27"/>
    <p:sldId id="280" r:id="rId28"/>
    <p:sldId id="282" r:id="rId29"/>
    <p:sldId id="283" r:id="rId30"/>
    <p:sldId id="285" r:id="rId31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9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939930C-EF16-575A-71DC-7D19C14858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3670EA54-98F9-920E-8D6D-BC83B0DB29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E6572B6-2215-7250-AC5C-742D421FE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34CF5-5A74-459D-8DB6-2C23AED1FE2C}" type="datetimeFigureOut">
              <a:rPr lang="de-DE" smtClean="0"/>
              <a:t>13.05.2026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6313FED-6CC2-106A-5C3B-2C1F03A5A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949B5AB-FFEE-DC9F-FB99-73B799F18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95E69-965E-4659-A80D-3FD6E499A33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702879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CEA89E-0EAB-90C5-A3D7-FEFD90971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E1B8D95-A571-3E79-9FB9-21EC12A287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F42932C-3D2A-B6F8-FEAF-5450606A0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34CF5-5A74-459D-8DB6-2C23AED1FE2C}" type="datetimeFigureOut">
              <a:rPr lang="de-DE" smtClean="0"/>
              <a:t>13.05.2026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0332DDB-257E-B5C9-6B00-5103DFC80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1A419D4-01D7-99D0-DEC3-9FE7BDE59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95E69-965E-4659-A80D-3FD6E499A33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036727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B8B31B-0204-668F-2895-AA174CD28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32D8102-3A11-6722-90E5-358B136819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7AE3B9C-D9D3-FB73-A4F4-64F76E3F0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34CF5-5A74-459D-8DB6-2C23AED1FE2C}" type="datetimeFigureOut">
              <a:rPr lang="de-DE" smtClean="0"/>
              <a:t>13.05.2026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E97D61E-1E4C-9EBD-C6F8-40B7CC3FB1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7F5B739-9CBE-1CCB-E440-3186D4980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95E69-965E-4659-A80D-3FD6E499A33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72838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C516432-6DD5-0E17-6B24-3E31CF3A70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C5C49BF-3605-965B-2985-E3E7FEB8B0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1542A61-8A80-477D-BC42-76BAF6149C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5DBAD9C-7D6E-DE54-529E-688DE2326E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34CF5-5A74-459D-8DB6-2C23AED1FE2C}" type="datetimeFigureOut">
              <a:rPr lang="de-DE" smtClean="0"/>
              <a:t>13.05.2026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AEABB2D-F726-D3DD-5A8F-AC785C503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991A0F4-C2F2-6F3E-08AB-B3CA6968B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95E69-965E-4659-A80D-3FD6E499A33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721106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9CBE864-9876-66B5-B07F-553894599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97753C5-8EA1-B713-50EE-23640EEC1E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D726BA6-872C-6C87-6ED2-D1616C9D3B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6E2A3BA-2935-DBBC-C9C8-F9B83F3AC0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06DAB953-6E42-31A1-D986-276DC7DC77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FD62C89-F9EE-0CB4-6E89-11CB31F40C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34CF5-5A74-459D-8DB6-2C23AED1FE2C}" type="datetimeFigureOut">
              <a:rPr lang="de-DE" smtClean="0"/>
              <a:t>13.05.2026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46986230-DD4C-AB5B-D49F-3080B9DA9C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DFB98E42-82A4-96BD-4129-ECFC5B9B3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95E69-965E-4659-A80D-3FD6E499A33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671942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BCC5400-F8BE-6D32-B89E-A278758EF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D23FB49F-9DFB-7A30-0E07-D4C7E3F8D9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34CF5-5A74-459D-8DB6-2C23AED1FE2C}" type="datetimeFigureOut">
              <a:rPr lang="de-DE" smtClean="0"/>
              <a:t>13.05.2026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B31598B-86C0-C5FE-A88A-312753F42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ED62F40-D083-9FFC-B295-A32015B5E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95E69-965E-4659-A80D-3FD6E499A33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265053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033A4594-CE42-DEAF-01FB-BBAD6A9BED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34CF5-5A74-459D-8DB6-2C23AED1FE2C}" type="datetimeFigureOut">
              <a:rPr lang="de-DE" smtClean="0"/>
              <a:t>13.05.2026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B815787-9B5A-19A4-2D4F-B374384E0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31B56EB-C0EA-EC2D-022D-E542CEBE3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95E69-965E-4659-A80D-3FD6E499A33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860337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ADC48A-18B6-C0F7-80ED-D2A58F1523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FC806F7-B387-FD87-E4C2-0846F6C60C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348FB8C-A3F6-6445-59A1-E730BFC781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87974CF-BA33-51BD-A391-79688DB3B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34CF5-5A74-459D-8DB6-2C23AED1FE2C}" type="datetimeFigureOut">
              <a:rPr lang="de-DE" smtClean="0"/>
              <a:t>13.05.2026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5877972-6D38-45F7-185C-8538DB4221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5404220-2ACD-4338-772C-7F738C4E2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95E69-965E-4659-A80D-3FD6E499A33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935338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FB5DE1D-25D4-80BA-80B5-721FFAAE5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CFF51FD6-F72B-19EF-AA46-5C0691757C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FE90B32-BBF8-5635-0A65-13E5B5D16F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A01B93C-5CF7-6BA1-75FD-914230670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34CF5-5A74-459D-8DB6-2C23AED1FE2C}" type="datetimeFigureOut">
              <a:rPr lang="de-DE" smtClean="0"/>
              <a:t>13.05.2026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DE0B88D-869E-FB13-CFD5-E152BAA40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A50F97E-C24B-CCC0-FF74-C0093FC94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95E69-965E-4659-A80D-3FD6E499A33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315968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8BB6EFD-8211-A65A-CBF1-89D79A561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2D2569D-AED9-1450-B855-ED180DA106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48BF243-0EFF-E214-C2D5-31059CBABF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34CF5-5A74-459D-8DB6-2C23AED1FE2C}" type="datetimeFigureOut">
              <a:rPr lang="de-DE" smtClean="0"/>
              <a:t>13.05.2026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60FCC11-FCF0-7ABD-7C3F-9857474328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D168BF0-4935-BFA2-20DB-FCEFDDB79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95E69-965E-4659-A80D-3FD6E499A33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06974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4C81A2B5-CE8E-0302-059A-94CAB316D0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24CF4F34-4CB8-D7FF-EFED-2538FDC682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026FE20-0982-AB14-F2AD-D24A517A3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34CF5-5A74-459D-8DB6-2C23AED1FE2C}" type="datetimeFigureOut">
              <a:rPr lang="de-DE" smtClean="0"/>
              <a:t>13.05.2026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D7BF62E-F7A4-DB0E-EA11-565B44CF44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F653A0D-7970-8E90-CF0B-D2CAD9B76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95E69-965E-4659-A80D-3FD6E499A33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469554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11BCA844-7F31-36F2-ACC1-AD462202E2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0B80736-39B4-9286-FF45-420638460D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8BF57F6-2A23-5B7B-0BA7-9C4E31945C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D34CF5-5A74-459D-8DB6-2C23AED1FE2C}" type="datetimeFigureOut">
              <a:rPr lang="de-DE" smtClean="0"/>
              <a:t>13.05.2026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5680198-DBAA-5549-3A3F-B0E653C561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DDC0040-796F-C6DA-4B51-F7780E7D04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C95E69-965E-4659-A80D-3FD6E499A33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09184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github.com/make2explore/RaspberryPi-Pose-Estimation/tree/main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tensorflow/tensorflow/tree/master/tensorflow/lite" TargetMode="External"/><Relationship Id="rId5" Type="http://schemas.openxmlformats.org/officeDocument/2006/relationships/hyperlink" Target="https://www.afbshop.de/logitech-c270-hd-webcam/de-13.923-n" TargetMode="Externa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developer.nvidia.com/cuda/toolkit" TargetMode="External"/><Relationship Id="rId3" Type="http://schemas.openxmlformats.org/officeDocument/2006/relationships/image" Target="../media/image5.png"/><Relationship Id="rId7" Type="http://schemas.openxmlformats.org/officeDocument/2006/relationships/hyperlink" Target="https://ip-webcam.de.uptodown.com/android" TargetMode="External"/><Relationship Id="rId2" Type="http://schemas.openxmlformats.org/officeDocument/2006/relationships/hyperlink" Target="https://blog.georgmill.de/2019/10/17/gestensteuerung-eines-roboters-auf-dem-nvidia-jetson-nano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eveloper.nvidia.com/embedded/jetpack" TargetMode="External"/><Relationship Id="rId5" Type="http://schemas.openxmlformats.org/officeDocument/2006/relationships/hyperlink" Target="https://developer.nvidia.com/embedded/jetson-nano" TargetMode="External"/><Relationship Id="rId4" Type="http://schemas.openxmlformats.org/officeDocument/2006/relationships/image" Target="../media/image6.png"/><Relationship Id="rId9" Type="http://schemas.openxmlformats.org/officeDocument/2006/relationships/hyperlink" Target="https://github.com/mit-han-lab/temporal-shift-module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github.com/davidpagnon/Sports2D/tree/main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opencv/opencv" TargetMode="External"/><Relationship Id="rId5" Type="http://schemas.openxmlformats.org/officeDocument/2006/relationships/hyperlink" Target="https://github.com/google-ai-edge/mediapipe" TargetMode="External"/><Relationship Id="rId4" Type="http://schemas.openxmlformats.org/officeDocument/2006/relationships/image" Target="../media/image8.gi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vipin/gesturebot/tree/main#5-navigation-integration" TargetMode="External"/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cython.readthedocs.io/en/latest/src/tutorial/cython_tutorial.html" TargetMode="External"/><Relationship Id="rId3" Type="http://schemas.openxmlformats.org/officeDocument/2006/relationships/image" Target="../media/image12.png"/><Relationship Id="rId7" Type="http://schemas.openxmlformats.org/officeDocument/2006/relationships/hyperlink" Target="https://docs.python.org/3/library/multiprocessing.html" TargetMode="External"/><Relationship Id="rId2" Type="http://schemas.openxmlformats.org/officeDocument/2006/relationships/hyperlink" Target="https://courses.ece.cornell.edu/ece5990/ECE5725_Spring2019_Projects/mkl53_sk2282/index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jpe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jpeg"/><Relationship Id="rId3" Type="http://schemas.openxmlformats.org/officeDocument/2006/relationships/image" Target="../media/image21.jpeg"/><Relationship Id="rId7" Type="http://schemas.openxmlformats.org/officeDocument/2006/relationships/hyperlink" Target="https://www.amazon.de/Aurevita-HDMI-LCD-Bildschirm-Lautsprechern-Multifunktions-Mini-Display/dp/B0DYV5YRW2/ref=pb_allspark_dp_sims_pao_desktop_session_based_d_sccl_1_5/257-5209198-6883948?pd_rd_w=uOZUC&amp;content-id=amzn1.sym.cdb3cd5b-5b29-4346-8344-90969a97eb77&amp;pf_rd_p=cdb3cd5b-5b29-4346-8344-90969a97eb77&amp;pf_rd_r=Y8QX0R73NZCA8G5RHVMJ&amp;pd_rd_wg=e9wkY&amp;pd_rd_r=d9ddb5bd-0dab-4e95-becb-f99d0a6fa09f&amp;pd_rd_i=B0DYV5YRW2&amp;psc=1" TargetMode="External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jpeg"/><Relationship Id="rId5" Type="http://schemas.openxmlformats.org/officeDocument/2006/relationships/image" Target="../media/image22.jpeg"/><Relationship Id="rId10" Type="http://schemas.openxmlformats.org/officeDocument/2006/relationships/hyperlink" Target="https://www.amazon.de/ELECROW-Touchscreen-funktioniert-Bildschirm-Lautsprecher/dp/B0BHHQLKPY/ref=pb_allspark_dp_sims_pao_desktop_session_based_d_sccl_1_7/257-5209198-6883948?pd_rd_w=uOZUC&amp;content-id=amzn1.sym.cdb3cd5b-5b29-4346-8344-90969a97eb77&amp;pf_rd_p=cdb3cd5b-5b29-4346-8344-90969a97eb77&amp;pf_rd_r=Y8QX0R73NZCA8G5RHVMJ&amp;pd_rd_wg=e9wkY&amp;pd_rd_r=d9ddb5bd-0dab-4e95-becb-f99d0a6fa09f&amp;pd_rd_i=B0BHHQLKPY&amp;th=1" TargetMode="External"/><Relationship Id="rId4" Type="http://schemas.openxmlformats.org/officeDocument/2006/relationships/hyperlink" Target="https://www.amazon.de/Kyyivwine-Tragbarer-Monitor-1920x1280-1Kontrastverh%C3%A4ltnis/dp/B0FHTLGNKN/ref=sr_1_5?dib=eyJ2IjoiMSJ9.vmD9zXmSpH2msRF5_ckOCLjHqR5X1RkrwhfFxR3BQOTortvq4o2c8g-R8Kkn18HoazDim1gbnnmKpx3HJpfJWaBJWBXI2vFR03UblVeWI2noynLURKJMJ01dNZLptVLSmq8iwcdmWN3YUQNWWYbdukIwOeiUm_I7Up5h6mB8kHrnpwnINaE-WV9L0WqEUi5NzvBMbK2Es-rLCKQVws71DaKlLNdGMrDkRGFgG5PgyYQ.4o52427QKjFgFMrVz-kq31XBsEwybBxy2LwAtKsBIPg&amp;dib_tag=se&amp;keywords=10-Zoll-HDMI-Monitor&amp;qid=1778537100&amp;sr=8-5&amp;th=1" TargetMode="External"/><Relationship Id="rId9" Type="http://schemas.openxmlformats.org/officeDocument/2006/relationships/image" Target="../media/image25.jpe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amazon.de/HGFRTEE-Portable-Monitor-Zoll-1920x1280/dp/B0DT9DN8MH/ref=sr_1_1_sspa?dib=eyJ2IjoiMSJ9.PFzcPckJR80BQ5igMp02d4yd9xEM0Tgw_eQpfj9OcYNkcKeK8Fm5eAkJzkxt4igxO66EboyRj0rHmln66eVt25gwnGwnCARgOHw6YJbtrIBLKTYCLkwQY3GxdW1ArMd3HbCE2TprB3Fn9OPMYBvpmsVDwmgLoWokFTRaWfogJFJZdy4OQQgsOazUDLSC-KnJZEPC45TzPT4vCZ_ICrqOZd4dLvIDQNmAdaRBvEOQ9lI.9sGMuqLCeO9UeeDFEt0M8-JkMdsRlrbk9Dxsio4jHVM&amp;dib_tag=se&amp;keywords=12%2BZoll%2BMonitor&amp;qid=1778538126&amp;sr=8-1-spons&amp;aref=E2azNYywoC&amp;sp_csd=d2lkZ2V0TmFtZT1zcF9hdGY&amp;th=1" TargetMode="External"/><Relationship Id="rId3" Type="http://schemas.openxmlformats.org/officeDocument/2006/relationships/image" Target="../media/image27.png"/><Relationship Id="rId7" Type="http://schemas.openxmlformats.org/officeDocument/2006/relationships/image" Target="../media/image30.jpe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jpeg"/><Relationship Id="rId5" Type="http://schemas.openxmlformats.org/officeDocument/2006/relationships/hyperlink" Target="https://webshop.asus.com/de/Monitore/bis-18-Zoll/ASUS-ZenScreen-MB169CK-Tragbarer-16-Zoll-USB-Monitor/90LM0AZ3-B01171" TargetMode="External"/><Relationship Id="rId4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hyperlink" Target="https://www.amazon.de/dp/B0G1MBG3PY/ref=sspa_dk_detail_2?pd_rd_i=B0G1MBG3PY&amp;pd_rd_w=nH9LT&amp;content-id=amzn1.sym.3a61fabd-6b4c-41f6-a6ca-8add20ca62d8&amp;pf_rd_p=3a61fabd-6b4c-41f6-a6ca-8add20ca62d8&amp;pf_rd_r=9XDM27K36SQ4JDHM4B81&amp;pd_rd_wg=5Trom&amp;pd_rd_r=f9fb055b-48a6-4123-aee1-31b4b15bcc19&amp;aref=3aARMDB9hO&amp;sp_csd=d2lkZ2V0TmFtZT1zcF9kZXRhaWxfdGhlbWF0aWM&amp;th=1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jpeg"/><Relationship Id="rId4" Type="http://schemas.openxmlformats.org/officeDocument/2006/relationships/hyperlink" Target="https://www.amazon.de/dp/B0G52DC7T7/ref=sspa_dk_detail_1?pd_rd_i=B0G52DC7T7&amp;pd_rd_w=e3yru&amp;content-id=amzn1.sym.ca4b55aa-42a6-4a68-809f-dd3c45c71c55&amp;pf_rd_p=ca4b55aa-42a6-4a68-809f-dd3c45c71c55&amp;pf_rd_r=5DE6BEN9JHAHRN13A8MN&amp;pd_rd_wg=RVpcF&amp;pd_rd_r=1fe3cf39-ba98-4fe2-afb8-343e952c2c81&amp;aref=783Fu1ygBU&amp;sp_csd=d2lkZ2V0TmFtZT1zcF9kZXRhaWxfdGhlbWF0aWM&amp;th=1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hyperlink" Target="https://de.gmktec.com/products/gmktec-nucbox-g10-amd%C2%AE-ryzen%E2%84%A2-5-3500u-mini-pc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jpeg"/><Relationship Id="rId3" Type="http://schemas.openxmlformats.org/officeDocument/2006/relationships/image" Target="../media/image34.png"/><Relationship Id="rId7" Type="http://schemas.openxmlformats.org/officeDocument/2006/relationships/image" Target="../media/image37.jpe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2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hyperlink" Target="https://de.wikipedia.org/wiki/Satz_des_Pythagoras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7.png"/><Relationship Id="rId4" Type="http://schemas.openxmlformats.org/officeDocument/2006/relationships/hyperlink" Target="https://www.e-consystems.com/blog/camera/de/technologie/field-of-view-focal-length-everything-you-need-to-know/" TargetMode="Externa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#_Projektanforderungen_an_die"/><Relationship Id="rId2" Type="http://schemas.openxmlformats.org/officeDocument/2006/relationships/hyperlink" Target="#hinreichendes_FOV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hyperlink" Target="https://unboundxr.de/intel-realsense-tiefenkamera-d435i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jpeg"/><Relationship Id="rId5" Type="http://schemas.openxmlformats.org/officeDocument/2006/relationships/image" Target="../media/image48.jpeg"/><Relationship Id="rId4" Type="http://schemas.openxmlformats.org/officeDocument/2006/relationships/hyperlink" Target="https://www.amazon.de/Fegtrtyoa-Tiefenkamera-Sensormodul-Bewegungserfassung-Roboterhindernis/dp/B0FK25R3S4/ref=sr_1_6?dib=eyJ2IjoiMSJ9.KHu_9KEUdAlvlDHkDXIq_dsvcYdhWzvNcYvdlKQkGbTnPCxXoU3235SQ3lJeH7uFzG3J1Omv55sMQWCo8rdgFC2T7kYzI_Z44DxfsgFX-yRKsO7yAZRw3on2JCpyAL4iksHLcsxwZealxkgYPnk5A3LHP93XE1SAFdR5McHipAVmVbu5Oge0wQ4KhxAQ5Jo9iKBB8BUctAjlUk72NCOTfT7naNBICqxE1RV0zlD_T58grL7LwVTiVuLISicbYAWpj4FKB-_bleq_pRfwJuSMxRoptHco0ydglSXSDicaRhI.NNwFTR66Y0UzlL52cQMFDC6FtlRQC46B1PYhM8hdC9M&amp;dib_tag=se&amp;keywords=tiefenkamera&amp;qid=1778533832&amp;sr=8-6" TargetMode="Externa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eg"/><Relationship Id="rId2" Type="http://schemas.openxmlformats.org/officeDocument/2006/relationships/hyperlink" Target="https://www.amazon.de/eMeet-1080P-Webcam-NOVA-Full-HD-Webcam-mit-Autofokus-Webcam-mit-Dual-Mikrofon-f%C3%BCr-Skype-Konferenz/dp/B08FR6M1ZV/ref=dp-upsell-widget_d_sccl_1_1/257-5209198-6883948?pd_rd_w=J9BIE&amp;content-id=amzn1.sym.a5360d69-1dd8-4402-89fe-f853c93e1259&amp;pf_rd_p=a5360d69-1dd8-4402-89fe-f853c93e1259&amp;pf_rd_r=Y6CY9AZPSQXXZ6C0TCYQ&amp;pd_rd_wg=56fqL&amp;pd_rd_r=624027e3-39fc-451b-b9a6-3861edca4e82&amp;pd_rd_i=B08FR6M1ZV&amp;th=1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jpeg"/><Relationship Id="rId4" Type="http://schemas.openxmlformats.org/officeDocument/2006/relationships/hyperlink" Target="https://www.amazon.de/eMeet-Full-Webcam-automatischer-Lichtkorrektur/dp/B0002HAHUY/ref=sr_1_4_sspa?__mk_de_DE=%C3%85M%C3%85%C5%BD%C3%95%C3%91&amp;crid=3HPSNV25X36PS&amp;dib=eyJ2IjoiMSJ9.s8zpQvADAZdSRu8CUSLwGA.TWeq_xkAUJgMn-Bq_zt5aS0Y93WN9dmpTNPch6hKhG4&amp;dib_tag=se&amp;keywords=wabcam%2B95%C2%B0&amp;qid=1778535907&amp;sprefix=wabcam%2B95%2B%2Caps%2C213&amp;sr=8-4-spons&amp;aref=cMcTssxkfB&amp;sp_csd=d2lkZ2V0TmFtZT1zcF9tdGY&amp;th=1" TargetMode="Externa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amazon.de/Svpro-Kameramodul-Weitwinkel-Computer-Industriekamera/dp/B0D8SS2KNZ/ref=sr_1_3?__mk_de_DE=%C3%85M%C3%85%C5%BD%C3%95%C3%91&amp;crid=2NNFCTUIXHZU8&amp;dib=eyJ2IjoiMSJ9.7f0t6VZF6kErj628_g8HvTX0pO0hoEDJEsefMlBTZIl1CWmZDqil7U15R0T-qT7sRl4DTDowuCYPOiKbcSdmZfKfX5Y31_ybu3iH_HahUgpQdemmezJJ3dc6jddS30fAdatVRinfW2yCdqLGk6lu4OBh_A6mGSTfGi89IBr_Bd9w0NsRTMzS-EmnYIKKPI0z3QJH84O5DxdjXBMBbPr3WQ.OPULkyI7GFCz8Tsep6mbzAgGzvZqSXcyG5LxC5MhfHk&amp;dib_tag=se&amp;keywords=wabcam%2B120%C2%B0&amp;qid=1778536316&amp;sprefix=wabcam%2B120%2B%2Caps%2C135&amp;sr=8-3&amp;th=1" TargetMode="External"/><Relationship Id="rId4" Type="http://schemas.openxmlformats.org/officeDocument/2006/relationships/hyperlink" Target="https://www.amazon.de/Svpro-Weitwinkel-verzerrungsfreie-Metallgeh%C3%A4use-Industriekamera/dp/B0CW2Z3QGD/ref=sr_1_5?__mk_de_DE=%C3%85M%C3%85%C5%BD%C3%95%C3%91&amp;crid=2NNFCTUIXHZU8&amp;dib=eyJ2IjoiMSJ9.7f0t6VZF6kErj628_g8HvTX0pO0hoEDJEsefMlBTZIl1CWmZDqil7U15R0T-qT7sRl4DTDowuCYPOiKbcSdmZfKfX5Y31_ybu3iH_HahUgpQdemmezJJ3dc6jddS30fAdatVRinfW2yCdqLGk6lu4OBh_A6mGSTfGi89IBr_Bd9w0NsRTMzS-EmnYIKKPI0z3QJH84O5DxdjXBMBbPr3WQ.OPULkyI7GFCz8Tsep6mbzAgGzvZqSXcyG5LxC5MhfHk&amp;dib_tag=se&amp;keywords=wabcam%2B120%C2%B0&amp;qid=1778536316&amp;sprefix=wabcam%2B120+%2Caps%2C135&amp;sr=8-5" TargetMode="Externa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eg"/><Relationship Id="rId7" Type="http://schemas.openxmlformats.org/officeDocument/2006/relationships/image" Target="../media/image53.jpeg"/><Relationship Id="rId2" Type="http://schemas.openxmlformats.org/officeDocument/2006/relationships/hyperlink" Target="https://www.amazon.de/Svpro-Industriekamera-Synchronisation-Verzerrungsfreie-Biometrische/dp/B0D1BZP7YV/ref=sr_1_4?__mk_de_DE=%C3%85M%C3%85%C5%BD%C3%95%C3%91&amp;crid=2NNFCTUIXHZU8&amp;dib=eyJ2IjoiMSJ9.7f0t6VZF6kErj628_g8HvTX0pO0hoEDJEsefMlBTZIl1CWmZDqil7U15R0T-qT7sRl4DTDowuCYPOiKbcSdmZfKfX5Y31_ybu3iH_HahUgpQdemmezJJ3dc6jddS30fAdatVRinfW2yCdqLGk6lu4OBh_A6mGSTfGi89IBr_Bd9w0NsRTMzS-EmnYIKKPI0z3QJH84O5DxdjXBMBbPr3WQ.OPULkyI7GFCz8Tsep6mbzAgGzvZqSXcyG5LxC5MhfHk&amp;dib_tag=se&amp;keywords=wabcam%2B120%C2%B0&amp;qid=1778536316&amp;sprefix=wabcam%2B120%2B%2Caps%2C135&amp;sr=8-4&amp;th=1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ebay.de/itm/286778555640?_trkparms=itmf%3D1%26aid%3D1110006%26rkt%3D4%26mech%3D1%26algv%3DSimVIDwebV4WithCtxRankerV1UnifiedFeaturesWithUserTargeting%26pmt%3D1%26amclksrc%3DITM%26sd%3D287038708385%26sid%3DAQALAAAAEDZlMdbnkWeja3p%2FxVFIOfM%3D%26itm%3D286778555640%26noa%3D0%26plcampt%3D0%3A149343166019%26algo%3DHOMESPLICE.SIM%26brand%3DMicrosoft%26asc%3D306631,306234,304715%26ao%3D1%26rk%3D2%26pid%3D101875%26b%3D1%26mehot%3Dnone%26lsid%3D77%26meid%3Da984700d6f934c19ae15dfa41c1ede47%26pg%3D2332490&amp;_trksid=p2332490.c101875.m1851&amp;itmprp=cksum%3A286778555640a984700d6f934c19ae15dfa41c1ede47%7Cenc%3AAQALAAABMP5ijRSk1vfiXCBXdVgHo26stgC37TrxmxAN5b0g%252BgnCDnJl4hYvc2OBZ987Za3%252BXHil4WcUTQfu4pQYbOYZppD0vXkdH88D3ysGyhVzpNKm3sJRS%252BF%252Buc%252FNMhwJQmv9CEoFDAUyzOO%252FUfLgvbpmkJ8Spb%252F4T8%252FNi9Q7%252BiNQNDdi2HS1ZbgfZ8oWKF4m6BBBVZVatPzAVMKhPwoprCx7FffRSvXvuQEUBV5TXsXA2BHdSM5PZXH3V2AoSi8%252F2fHZmyGaGqfH9WY5TZujTV01Bhbwlt4TP2oruSip%252FVpkd1asvQHH8oxewXivY7aRqeINc%252FQ7CxuGfp8Kk1HaMwf8DCI1dGAGXPX2hrf8tBUmZbOhYYAJCqKtYv%252Bl9xOITtivHTZdPRFGs7w3oi%252B8b%252BPhNis%253D%7Campid%3APL_CLK%7Cclp%3A2332490&amp;itmmeta=01KREKGYVS55SR61Y0223SE4JS" TargetMode="External"/><Relationship Id="rId5" Type="http://schemas.openxmlformats.org/officeDocument/2006/relationships/hyperlink" Target="https://www.ebay.de/itm/287038708385?_skw=kinect+v2&amp;itmmeta=01KREKFJAJEFPFYX74B5WEG2ZW&amp;hash=item42d4d71aa1:g:QMkAAeSwxghpjdHS&amp;itmprp=enc%3AAQALAAAA0DKQclQvzFwZQpmMrsO4Lupwh8CniyXeD515j58uKmuydwMwDOZ%2BJXQykxpYkAZjcw7%2FqqtCgRC%2FO3Csqg707BKttX3pkqQYJ8KEErfC7F%2FdzkCKaw1G1QuIQTK4OmlBwXJP376nqOWMxbQTQD2rDIv0M1GO6kkIHO9wOi3imTuZsDtcaUmvO7mC2j1oeuxTAuO%2F48qia0af3jWIm%2BbnRN0dATgXDBi%2BiLJfMyPHfqY4%2BxPdGtg1q%2FF9wLe%2F97pLEfqg0Jaz75TqJp5RUxc1Q9k%3D%7Ctkp%3ABk9SR8ilvtPDZw" TargetMode="External"/><Relationship Id="rId4" Type="http://schemas.openxmlformats.org/officeDocument/2006/relationships/hyperlink" Target="https://www.amazon.de/Microsoft-14388-Xbox-Kinect-Sensor/dp/B00NABN4VS/ref=sr_1_2?__mk_de_DE=%C3%85M%C3%85%C5%BD%C3%95%C3%91&amp;crid=26SKZDKBPXBKK&amp;dib=eyJ2IjoiMSJ9.D20xyRRQ3NquuTDRTcsPMethPzkbX3aeg29JPmdjP0dGHX3emV63Pn8CLm9pyhTncOqBw0mt8CyiZNcVEv7E4fK6kGjDYg8RRzlyD6qCcpCMjccCPNwCm9-zE9D9T30TEQ3_2aBa0N9fTxN2pkSLKPFPEKeavDzTqqEOxh03gk-WBfsVP0AGwm3GfZ6T_gQtlQYczj4Iro53sOgoUWdwhavWE5otzmgA8vhi7PbKir8.o891C7gs1drB0BAk4Ch5H_AQSbQQOtL88M0Ab8ukvaM&amp;dib_tag=se&amp;keywords=kinect+v2&amp;qid=1778606624&amp;s=videogames&amp;sprefix=kinect+v2%2Cvideogames%2C111&amp;sr=1-2" TargetMode="Externa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hyperlink" Target="https://cad.onshape.com/documents/00b008a3f533eca98fac5bba/w/b6eb2c8f02007af9c686e203/e/60674b425d3e898ddf7b70c7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8F519C6-C578-D19F-0DDB-B34F3D0E670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Komponentenwahl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7F6A5D5-450E-001A-6C65-D5223DF5586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Kamerabasierte Gestenerkennung zur Steuerung eines virtuellen Orchesters (Masterarbeit Wegener)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1032E088-E7A2-6C05-0E27-5D454DC86F8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3822" y="3441032"/>
            <a:ext cx="5290491" cy="3739154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47C8E334-0C2B-D2B1-9941-FC0E93A0679E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9849"/>
          <a:stretch>
            <a:fillRect/>
          </a:stretch>
        </p:blipFill>
        <p:spPr bwMode="auto">
          <a:xfrm>
            <a:off x="9365297" y="0"/>
            <a:ext cx="2605405" cy="262572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4433148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97FFEB7-FB98-7AC5-4672-6FA39738F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Komponenten ähnlicher Projekte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65E116A4-A707-B6AC-FC17-6DBB753E9E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3541" y="1764346"/>
            <a:ext cx="9317760" cy="4800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7745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9FECDB-F9BE-C13B-14BB-2388D8CC22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8268"/>
            <a:ext cx="10515600" cy="1325563"/>
          </a:xfrm>
        </p:spPr>
        <p:txBody>
          <a:bodyPr/>
          <a:lstStyle/>
          <a:p>
            <a:r>
              <a:rPr lang="en-US" dirty="0"/>
              <a:t>Pose Estimation on Raspberry Pi - </a:t>
            </a:r>
            <a:r>
              <a:rPr lang="de-DE" u="sng" dirty="0">
                <a:hlinkClick r:id="rId2"/>
              </a:rPr>
              <a:t>GitHub</a:t>
            </a:r>
            <a:endParaRPr lang="de-DE" dirty="0"/>
          </a:p>
        </p:txBody>
      </p:sp>
      <p:pic>
        <p:nvPicPr>
          <p:cNvPr id="4" name="Inhaltsplatzhalter 3">
            <a:extLst>
              <a:ext uri="{FF2B5EF4-FFF2-40B4-BE49-F238E27FC236}">
                <a16:creationId xmlns:a16="http://schemas.microsoft.com/office/drawing/2014/main" id="{F8C80BE6-B4B3-0D45-FDA7-3932D3598D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23012" y="1178065"/>
            <a:ext cx="8224156" cy="4351338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5CBC9DD6-040F-53AA-29E6-C742E505C3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0616" y="4288967"/>
            <a:ext cx="5400040" cy="2781935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68480119-0E68-2E96-86C8-2BD5227E19DC}"/>
              </a:ext>
            </a:extLst>
          </p:cNvPr>
          <p:cNvSpPr txBox="1"/>
          <p:nvPr/>
        </p:nvSpPr>
        <p:spPr>
          <a:xfrm>
            <a:off x="498326" y="5529403"/>
            <a:ext cx="609760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buFont typeface="Times New Roman" panose="02020603050405020304" pitchFamily="18" charset="0"/>
              <a:buChar char="-"/>
            </a:pPr>
            <a:r>
              <a:rPr lang="de-DE" sz="1800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5"/>
              </a:rPr>
              <a:t>Logitech C270 Webcam</a:t>
            </a:r>
            <a:endParaRPr lang="de-DE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buFont typeface="Times New Roman" panose="02020603050405020304" pitchFamily="18" charset="0"/>
              <a:buChar char="-"/>
            </a:pPr>
            <a:r>
              <a:rPr lang="de-DE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Raspberry Pi 4 Medel B – Recheneinheit</a:t>
            </a:r>
          </a:p>
          <a:p>
            <a:pPr marL="342900" lvl="0" indent="-342900" algn="just">
              <a:buFont typeface="Times New Roman" panose="02020603050405020304" pitchFamily="18" charset="0"/>
              <a:buChar char="-"/>
            </a:pPr>
            <a:r>
              <a:rPr lang="de-DE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OpenCV</a:t>
            </a:r>
            <a:r>
              <a:rPr lang="de-DE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4 in C++ – zur Bildverarbeitung </a:t>
            </a:r>
          </a:p>
          <a:p>
            <a:pPr marL="342900" lvl="0" indent="-342900" algn="just">
              <a:buFont typeface="Times New Roman" panose="02020603050405020304" pitchFamily="18" charset="0"/>
              <a:buChar char="-"/>
            </a:pPr>
            <a:r>
              <a:rPr lang="de-DE" sz="1800" u="sng" dirty="0" err="1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6"/>
              </a:rPr>
              <a:t>TensorFlow</a:t>
            </a:r>
            <a:r>
              <a:rPr lang="de-DE" sz="1800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6"/>
              </a:rPr>
              <a:t> Lite</a:t>
            </a:r>
            <a:r>
              <a:rPr lang="de-DE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in C++ – zum Erkennen der Körperpunkte</a:t>
            </a:r>
          </a:p>
        </p:txBody>
      </p:sp>
    </p:spTree>
    <p:extLst>
      <p:ext uri="{BB962C8B-B14F-4D97-AF65-F5344CB8AC3E}">
        <p14:creationId xmlns:p14="http://schemas.microsoft.com/office/powerpoint/2010/main" val="6901468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18DFB1A-85DE-D32D-B000-47C7B5846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i="1" dirty="0"/>
              <a:t>Gestensteuerung eines Roboters auf dem Nvidia Jetson Nano</a:t>
            </a:r>
            <a:r>
              <a:rPr lang="de-DE" dirty="0"/>
              <a:t> - </a:t>
            </a:r>
            <a:r>
              <a:rPr lang="de-DE" b="1" cap="small" dirty="0">
                <a:hlinkClick r:id="rId2"/>
              </a:rPr>
              <a:t>blog.georgmill.de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4C9C3BF-95EF-0B2D-DE85-2C2AF508DA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9BA2E558-77D9-C39A-F57F-9E2781A825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5373" y="1644968"/>
            <a:ext cx="5400040" cy="2798445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936D21B0-2FF8-FECC-10C5-799EFEB5C2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271" y="1644968"/>
            <a:ext cx="4179102" cy="4116199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4E89C13D-3C3A-FB07-E7A7-A47C6F43A1EA}"/>
              </a:ext>
            </a:extLst>
          </p:cNvPr>
          <p:cNvSpPr txBox="1"/>
          <p:nvPr/>
        </p:nvSpPr>
        <p:spPr>
          <a:xfrm>
            <a:off x="4657827" y="4461550"/>
            <a:ext cx="722790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buFont typeface="Times New Roman" panose="02020603050405020304" pitchFamily="18" charset="0"/>
              <a:buChar char="-"/>
            </a:pPr>
            <a:r>
              <a:rPr lang="de-DE" sz="1800" b="1" u="none" strike="noStrike" cap="small" spc="25" dirty="0">
                <a:solidFill>
                  <a:srgbClr val="4F81BD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5"/>
              </a:rPr>
              <a:t>NVIDIA Jetson Nano</a:t>
            </a:r>
            <a:r>
              <a:rPr lang="de-DE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mit </a:t>
            </a:r>
            <a:r>
              <a:rPr lang="de-DE" sz="1800" b="1" u="none" strike="noStrike" cap="small" spc="25" dirty="0" err="1">
                <a:solidFill>
                  <a:srgbClr val="4F81BD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6"/>
              </a:rPr>
              <a:t>JetPack</a:t>
            </a:r>
            <a:r>
              <a:rPr lang="de-DE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als Betriebssystem – Recheneinheit </a:t>
            </a:r>
          </a:p>
          <a:p>
            <a:pPr marL="342900" lvl="0" indent="-342900" algn="just">
              <a:buFont typeface="Times New Roman" panose="02020603050405020304" pitchFamily="18" charset="0"/>
              <a:buChar char="-"/>
            </a:pPr>
            <a:r>
              <a:rPr lang="de-DE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Android Smartphone mit </a:t>
            </a:r>
            <a:r>
              <a:rPr lang="de-DE" sz="1800" b="1" u="none" strike="noStrike" cap="small" spc="25" dirty="0">
                <a:solidFill>
                  <a:srgbClr val="4F81BD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7"/>
              </a:rPr>
              <a:t>IP Webcam</a:t>
            </a:r>
            <a:r>
              <a:rPr lang="de-DE" sz="1800" b="1" cap="small" spc="25" dirty="0">
                <a:solidFill>
                  <a:srgbClr val="4F81BD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de-DE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– Kamera </a:t>
            </a:r>
          </a:p>
          <a:p>
            <a:pPr marL="342900" lvl="0" indent="-342900" algn="just">
              <a:buFont typeface="Times New Roman" panose="02020603050405020304" pitchFamily="18" charset="0"/>
              <a:buChar char="-"/>
            </a:pPr>
            <a:r>
              <a:rPr lang="de-DE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OpenCV</a:t>
            </a:r>
            <a:r>
              <a:rPr lang="de-DE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– für Bildverarbeitung </a:t>
            </a:r>
          </a:p>
          <a:p>
            <a:pPr marL="342900" lvl="0" indent="-342900" algn="just">
              <a:buFont typeface="Times New Roman" panose="02020603050405020304" pitchFamily="18" charset="0"/>
              <a:buChar char="-"/>
            </a:pPr>
            <a:r>
              <a:rPr lang="de-DE" sz="1800" b="1" u="none" strike="noStrike" cap="small" spc="25" dirty="0">
                <a:solidFill>
                  <a:srgbClr val="4F81BD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8"/>
              </a:rPr>
              <a:t>NVIDIA CUDA</a:t>
            </a:r>
            <a:r>
              <a:rPr lang="de-DE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– zur Hardwarebeschleunigung</a:t>
            </a:r>
          </a:p>
          <a:p>
            <a:pPr marL="342900" lvl="0" indent="-342900" algn="just">
              <a:buFont typeface="Times New Roman" panose="02020603050405020304" pitchFamily="18" charset="0"/>
              <a:buChar char="-"/>
            </a:pPr>
            <a:r>
              <a:rPr lang="en-US" sz="1800" b="1" u="none" strike="noStrike" cap="small" spc="25" dirty="0">
                <a:solidFill>
                  <a:srgbClr val="4F81BD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9"/>
              </a:rPr>
              <a:t>TSM: Temporal Shift Module for Efficient Video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– für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Recheneffizienz</a:t>
            </a:r>
            <a:endParaRPr lang="de-DE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29769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CF5CCF7-9A71-12F0-D53A-D5BAE7BA3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i="1" dirty="0"/>
              <a:t>Sports2D</a:t>
            </a:r>
            <a:r>
              <a:rPr lang="de-DE" dirty="0"/>
              <a:t> - </a:t>
            </a:r>
            <a:r>
              <a:rPr lang="de-DE" b="1" cap="small" dirty="0">
                <a:hlinkClick r:id="rId2"/>
              </a:rPr>
              <a:t>GitHub</a:t>
            </a:r>
            <a:r>
              <a:rPr lang="de-DE" dirty="0"/>
              <a:t> </a:t>
            </a:r>
          </a:p>
        </p:txBody>
      </p:sp>
      <p:pic>
        <p:nvPicPr>
          <p:cNvPr id="4" name="Inhaltsplatzhalter 3">
            <a:extLst>
              <a:ext uri="{FF2B5EF4-FFF2-40B4-BE49-F238E27FC236}">
                <a16:creationId xmlns:a16="http://schemas.microsoft.com/office/drawing/2014/main" id="{54FC1F89-2C37-A53C-F6AD-599087798A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820" y="1673709"/>
            <a:ext cx="6111160" cy="3510581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1418223B-425E-90E9-F3DB-F2DA6D34923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9360" y="851419"/>
            <a:ext cx="4292109" cy="2977323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F4B60B9F-7D06-F1FD-4389-F6CDC5A12BB3}"/>
              </a:ext>
            </a:extLst>
          </p:cNvPr>
          <p:cNvSpPr txBox="1"/>
          <p:nvPr/>
        </p:nvSpPr>
        <p:spPr>
          <a:xfrm>
            <a:off x="6679241" y="4184551"/>
            <a:ext cx="536262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Times New Roman" panose="02020603050405020304" pitchFamily="18" charset="0"/>
              <a:buChar char="-"/>
            </a:pPr>
            <a:r>
              <a:rPr lang="de-DE" sz="1800" b="1" u="none" strike="noStrike" cap="small" spc="25" dirty="0" err="1">
                <a:solidFill>
                  <a:srgbClr val="4F81BD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5"/>
              </a:rPr>
              <a:t>MediaPipe</a:t>
            </a:r>
            <a:r>
              <a:rPr lang="de-DE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und </a:t>
            </a:r>
            <a:r>
              <a:rPr lang="de-DE" sz="1800" b="1" u="none" strike="noStrike" cap="small" spc="25" dirty="0" err="1">
                <a:solidFill>
                  <a:srgbClr val="4F81BD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6"/>
              </a:rPr>
              <a:t>OpenCV</a:t>
            </a:r>
            <a:r>
              <a:rPr lang="de-DE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in Python 3 – für die Bildverarveitung </a:t>
            </a:r>
          </a:p>
          <a:p>
            <a:pPr marL="342900" lvl="0" indent="-342900">
              <a:buFont typeface="Times New Roman" panose="02020603050405020304" pitchFamily="18" charset="0"/>
              <a:buChar char="-"/>
            </a:pPr>
            <a:r>
              <a:rPr lang="de-DE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ROS in Python 3 und </a:t>
            </a:r>
            <a:r>
              <a:rPr lang="de-DE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Gazebo</a:t>
            </a:r>
            <a:r>
              <a:rPr lang="de-DE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– als Kommunikationsprotokoll</a:t>
            </a:r>
          </a:p>
          <a:p>
            <a:pPr marL="342900" lvl="0" indent="-342900">
              <a:buFont typeface="Times New Roman" panose="02020603050405020304" pitchFamily="18" charset="0"/>
              <a:buChar char="-"/>
            </a:pPr>
            <a:r>
              <a:rPr lang="de-DE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Gazebo</a:t>
            </a:r>
            <a:r>
              <a:rPr lang="de-DE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– zur Robotersimulation </a:t>
            </a:r>
          </a:p>
          <a:p>
            <a:pPr marL="342900" lvl="0" indent="-342900">
              <a:buFont typeface="Times New Roman" panose="02020603050405020304" pitchFamily="18" charset="0"/>
              <a:buChar char="-"/>
            </a:pPr>
            <a:r>
              <a:rPr lang="de-DE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undefinierte 2D-Webcam – Kamera ist horizontal und stationär positioniert </a:t>
            </a:r>
          </a:p>
          <a:p>
            <a:pPr marL="342900" lvl="0" indent="-342900">
              <a:buFont typeface="Times New Roman" panose="02020603050405020304" pitchFamily="18" charset="0"/>
              <a:buChar char="-"/>
            </a:pPr>
            <a:r>
              <a:rPr lang="de-DE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Linux Ubuntu Computer</a:t>
            </a:r>
          </a:p>
        </p:txBody>
      </p:sp>
    </p:spTree>
    <p:extLst>
      <p:ext uri="{BB962C8B-B14F-4D97-AF65-F5344CB8AC3E}">
        <p14:creationId xmlns:p14="http://schemas.microsoft.com/office/powerpoint/2010/main" val="18749304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 descr="4-Pose Navigation Demo">
            <a:extLst>
              <a:ext uri="{FF2B5EF4-FFF2-40B4-BE49-F238E27FC236}">
                <a16:creationId xmlns:a16="http://schemas.microsoft.com/office/drawing/2014/main" id="{CD16FD9F-99ED-B936-9AAA-9170DB484B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8144" y="1490390"/>
            <a:ext cx="6091543" cy="3429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7ECC82F6-411B-A707-1486-E17389727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i="1" dirty="0" err="1"/>
              <a:t>GestureBot</a:t>
            </a:r>
            <a:r>
              <a:rPr lang="de-DE" b="1" i="1" dirty="0"/>
              <a:t> Vision System - </a:t>
            </a:r>
            <a:r>
              <a:rPr lang="de-DE" b="1" cap="small" dirty="0" err="1">
                <a:hlinkClick r:id="rId3"/>
              </a:rPr>
              <a:t>GitHab</a:t>
            </a:r>
            <a:endParaRPr lang="de-DE" dirty="0"/>
          </a:p>
        </p:txBody>
      </p:sp>
      <p:pic>
        <p:nvPicPr>
          <p:cNvPr id="4" name="Grafik 3" descr="GestureBot Hardware">
            <a:extLst>
              <a:ext uri="{FF2B5EF4-FFF2-40B4-BE49-F238E27FC236}">
                <a16:creationId xmlns:a16="http://schemas.microsoft.com/office/drawing/2014/main" id="{27FE910D-2080-085C-D37E-4B8177EE5F5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256" y="1365261"/>
            <a:ext cx="2133559" cy="5091191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Inhaltsplatzhalter 4" descr="Zoomed in">
            <a:extLst>
              <a:ext uri="{FF2B5EF4-FFF2-40B4-BE49-F238E27FC236}">
                <a16:creationId xmlns:a16="http://schemas.microsoft.com/office/drawing/2014/main" id="{00C38019-4474-EDCC-2C88-CA9BE1AD18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5744" y="1490390"/>
            <a:ext cx="4572000" cy="342900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DD911F7E-9250-2798-81BE-24F0FEEED4F6}"/>
              </a:ext>
            </a:extLst>
          </p:cNvPr>
          <p:cNvSpPr txBox="1"/>
          <p:nvPr/>
        </p:nvSpPr>
        <p:spPr>
          <a:xfrm>
            <a:off x="2672472" y="5174354"/>
            <a:ext cx="837667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buFont typeface="Times New Roman" panose="02020603050405020304" pitchFamily="18" charset="0"/>
              <a:buChar char="-"/>
            </a:pPr>
            <a:r>
              <a:rPr lang="de-DE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Raspberry Pi 5 8 GB mit Ubuntu 24.04 LTS (Nobel) für Raspberry Pi</a:t>
            </a:r>
          </a:p>
          <a:p>
            <a:pPr marL="342900" lvl="0" indent="-342900" algn="just">
              <a:buFont typeface="Times New Roman" panose="02020603050405020304" pitchFamily="18" charset="0"/>
              <a:buChar char="-"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Raspberry Pi Camera Module 3 (IMX708, 640×480 @ 30 FPS) – Kamera </a:t>
            </a:r>
            <a:endParaRPr lang="de-DE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buFont typeface="Times New Roman" panose="02020603050405020304" pitchFamily="18" charset="0"/>
              <a:buChar char="-"/>
            </a:pPr>
            <a:r>
              <a:rPr lang="de-DE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ROS 2 – zur Robotersteuerung also Kommunikation und Navigation</a:t>
            </a:r>
          </a:p>
          <a:p>
            <a:pPr marL="342900" lvl="0" indent="-342900" algn="just">
              <a:buFont typeface="Times New Roman" panose="02020603050405020304" pitchFamily="18" charset="0"/>
              <a:buChar char="-"/>
            </a:pPr>
            <a:r>
              <a:rPr lang="de-DE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MediaPipe</a:t>
            </a:r>
            <a:r>
              <a:rPr lang="de-DE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und </a:t>
            </a:r>
            <a:r>
              <a:rPr lang="de-DE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OpenCV</a:t>
            </a:r>
            <a:r>
              <a:rPr lang="de-DE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in Python 3 – für die Bildverarbeitung</a:t>
            </a:r>
          </a:p>
        </p:txBody>
      </p:sp>
    </p:spTree>
    <p:extLst>
      <p:ext uri="{BB962C8B-B14F-4D97-AF65-F5344CB8AC3E}">
        <p14:creationId xmlns:p14="http://schemas.microsoft.com/office/powerpoint/2010/main" val="27698455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F8AA203-1B95-581B-52F8-422AF1D499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711" y="365125"/>
            <a:ext cx="11298725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Mimic Robot - ECE5725 Spring 2019 Final Project - Mark Li (mkl53) and Serena Krech (sk2282) - </a:t>
            </a:r>
            <a:r>
              <a:rPr lang="de-DE" u="sng" dirty="0">
                <a:hlinkClick r:id="rId2"/>
              </a:rPr>
              <a:t>Internet</a:t>
            </a:r>
            <a:endParaRPr lang="de-DE" dirty="0"/>
          </a:p>
        </p:txBody>
      </p:sp>
      <p:pic>
        <p:nvPicPr>
          <p:cNvPr id="4" name="Inhaltsplatzhalter 3" descr="Robot in initial position">
            <a:extLst>
              <a:ext uri="{FF2B5EF4-FFF2-40B4-BE49-F238E27FC236}">
                <a16:creationId xmlns:a16="http://schemas.microsoft.com/office/drawing/2014/main" id="{F1925575-35BC-6678-8554-8D50CBB470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965" y="1930892"/>
            <a:ext cx="3441877" cy="19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rafik 5" descr="Robot in initial position">
            <a:extLst>
              <a:ext uri="{FF2B5EF4-FFF2-40B4-BE49-F238E27FC236}">
                <a16:creationId xmlns:a16="http://schemas.microsoft.com/office/drawing/2014/main" id="{BD201651-1C84-7810-F9C5-7C9EE2FFB27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9303" y="1941057"/>
            <a:ext cx="3607606" cy="2027169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rafik 6" descr="Robot in initial position">
            <a:extLst>
              <a:ext uri="{FF2B5EF4-FFF2-40B4-BE49-F238E27FC236}">
                <a16:creationId xmlns:a16="http://schemas.microsoft.com/office/drawing/2014/main" id="{197E915B-A36E-A6C3-ABC7-4D9AC100F5D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6336" y="1823945"/>
            <a:ext cx="3771410" cy="2144281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rafik 7" descr="Robot in initial position">
            <a:extLst>
              <a:ext uri="{FF2B5EF4-FFF2-40B4-BE49-F238E27FC236}">
                <a16:creationId xmlns:a16="http://schemas.microsoft.com/office/drawing/2014/main" id="{150D944D-27A9-F730-227B-F6DB52B3016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762" y="3968227"/>
            <a:ext cx="3441877" cy="2581408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252E2054-C58B-8EF4-9E36-59E40934FEE4}"/>
              </a:ext>
            </a:extLst>
          </p:cNvPr>
          <p:cNvSpPr txBox="1"/>
          <p:nvPr/>
        </p:nvSpPr>
        <p:spPr>
          <a:xfrm>
            <a:off x="4895662" y="4520267"/>
            <a:ext cx="609750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buFont typeface="Times New Roman" panose="02020603050405020304" pitchFamily="18" charset="0"/>
              <a:buChar char="-"/>
            </a:pPr>
            <a:r>
              <a:rPr lang="de-DE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Raspberry Pi – als Recheneinheit  </a:t>
            </a:r>
          </a:p>
          <a:p>
            <a:pPr marL="342900" lvl="0" indent="-342900" algn="just">
              <a:buFont typeface="Times New Roman" panose="02020603050405020304" pitchFamily="18" charset="0"/>
              <a:buChar char="-"/>
            </a:pPr>
            <a:r>
              <a:rPr lang="de-DE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Pi Cam – Kamera</a:t>
            </a:r>
          </a:p>
          <a:p>
            <a:pPr marL="342900" lvl="0" indent="-342900" algn="just">
              <a:buFont typeface="Times New Roman" panose="02020603050405020304" pitchFamily="18" charset="0"/>
              <a:buChar char="-"/>
            </a:pPr>
            <a:r>
              <a:rPr lang="de-DE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OpenCV</a:t>
            </a:r>
            <a:r>
              <a:rPr lang="de-DE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in Python – Bildverarbeitung </a:t>
            </a:r>
          </a:p>
          <a:p>
            <a:pPr marL="342900" lvl="0" indent="-342900" algn="just">
              <a:buFont typeface="Times New Roman" panose="02020603050405020304" pitchFamily="18" charset="0"/>
              <a:buChar char="-"/>
            </a:pPr>
            <a:r>
              <a:rPr lang="de-DE" sz="1800" u="sng" dirty="0" err="1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7"/>
              </a:rPr>
              <a:t>multiprocessing</a:t>
            </a:r>
            <a:r>
              <a:rPr lang="de-DE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in Python – Rechenoptimierung </a:t>
            </a:r>
          </a:p>
          <a:p>
            <a:pPr marL="342900" lvl="0" indent="-342900" algn="just">
              <a:buFont typeface="Times New Roman" panose="02020603050405020304" pitchFamily="18" charset="0"/>
              <a:buChar char="-"/>
            </a:pPr>
            <a:r>
              <a:rPr lang="de-DE" sz="1800" u="sng" dirty="0" err="1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8"/>
              </a:rPr>
              <a:t>Cython</a:t>
            </a:r>
            <a:r>
              <a:rPr lang="de-DE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in Python – Rechenoptimierung </a:t>
            </a:r>
          </a:p>
        </p:txBody>
      </p:sp>
    </p:spTree>
    <p:extLst>
      <p:ext uri="{BB962C8B-B14F-4D97-AF65-F5344CB8AC3E}">
        <p14:creationId xmlns:p14="http://schemas.microsoft.com/office/powerpoint/2010/main" val="24538997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F4F8F82-5AF0-F6E5-4E36-4CE64A8AF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Recheneinheit </a:t>
            </a:r>
          </a:p>
        </p:txBody>
      </p:sp>
      <p:pic>
        <p:nvPicPr>
          <p:cNvPr id="4" name="Inhaltsplatzhalter 3">
            <a:extLst>
              <a:ext uri="{FF2B5EF4-FFF2-40B4-BE49-F238E27FC236}">
                <a16:creationId xmlns:a16="http://schemas.microsoft.com/office/drawing/2014/main" id="{4CCA6F5A-0E90-6318-5AA3-DE16FF347A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795" y="3659118"/>
            <a:ext cx="3716402" cy="2833757"/>
          </a:xfrm>
          <a:prstGeom prst="rect">
            <a:avLst/>
          </a:prstGeom>
          <a:noFill/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E8786A8E-69EF-1F54-B37E-6A16F8EB33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4197" y="1690688"/>
            <a:ext cx="3443605" cy="2760345"/>
          </a:xfrm>
          <a:prstGeom prst="rect">
            <a:avLst/>
          </a:prstGeom>
          <a:noFill/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49B520A9-36FF-DA94-7F13-537CDF41FE6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2764" y="3322354"/>
            <a:ext cx="3241440" cy="324144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318606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171818E0-2781-C3A6-7B48-FD0E8510A8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713597"/>
            <a:ext cx="5779278" cy="577927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34420733-F724-5161-5156-28958B747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Mini-PC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C997661-9EEE-9FE9-C005-81B491EAC5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436" y="1816572"/>
            <a:ext cx="5164248" cy="4351338"/>
          </a:xfrm>
        </p:spPr>
        <p:txBody>
          <a:bodyPr>
            <a:normAutofit lnSpcReduction="10000"/>
          </a:bodyPr>
          <a:lstStyle/>
          <a:p>
            <a:r>
              <a:rPr lang="de-DE" dirty="0"/>
              <a:t>Stromverbrauch und Platz ist weniger das Problem</a:t>
            </a:r>
          </a:p>
          <a:p>
            <a:r>
              <a:rPr lang="de-DE" dirty="0"/>
              <a:t>Auch die ca. 500 - 1000g Gewicht eines Mini-Desktop-PCs auch nicht.</a:t>
            </a:r>
          </a:p>
          <a:p>
            <a:r>
              <a:rPr lang="de-DE" dirty="0"/>
              <a:t> Einzig ist die Befestigung eines Mini-PCs wäre aufwändiger</a:t>
            </a:r>
          </a:p>
          <a:p>
            <a:r>
              <a:rPr lang="de-DE" dirty="0"/>
              <a:t>Höhere Rechenleistung und Kompatibilität sich dahingegen relevante Faktoren. Sie tragen Problemprävention bei. </a:t>
            </a:r>
          </a:p>
        </p:txBody>
      </p:sp>
    </p:spTree>
    <p:extLst>
      <p:ext uri="{BB962C8B-B14F-4D97-AF65-F5344CB8AC3E}">
        <p14:creationId xmlns:p14="http://schemas.microsoft.com/office/powerpoint/2010/main" val="9507022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F492728-9E7E-10F9-13F5-A09958511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Kein Notebook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AFFFCD2-0D83-282A-89A2-F81D56D2D7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897429" cy="4351338"/>
          </a:xfrm>
        </p:spPr>
        <p:txBody>
          <a:bodyPr/>
          <a:lstStyle/>
          <a:p>
            <a:r>
              <a:rPr lang="de-DE" dirty="0"/>
              <a:t>Schwächere CPU</a:t>
            </a:r>
          </a:p>
          <a:p>
            <a:r>
              <a:rPr lang="de-DE" dirty="0"/>
              <a:t>Schwieriger räumlich zu integrieren und ggf. zu befestigen</a:t>
            </a:r>
          </a:p>
        </p:txBody>
      </p:sp>
      <p:pic>
        <p:nvPicPr>
          <p:cNvPr id="1026" name="Picture 2" descr="Acer Chromebook Spin 312 (CP312-1H-C6YY) Chromebook (30,98 cm/12,2 Zoll, Intel N100, UHD Graphics, 4 GB, 128 GB SSD, ChromeOS)">
            <a:extLst>
              <a:ext uri="{FF2B5EF4-FFF2-40B4-BE49-F238E27FC236}">
                <a16:creationId xmlns:a16="http://schemas.microsoft.com/office/drawing/2014/main" id="{EC504C71-A711-D1BC-A4D7-F74CABEE78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8902" y="1177624"/>
            <a:ext cx="7038791" cy="50594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392244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7657259-B219-263D-A932-206F7BBCF3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Softwarewahl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0595E24-F5DD-FEA5-4EF2-F2D50F560D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Als Bildverarbeitungssoftware kommen in Frage:</a:t>
            </a:r>
          </a:p>
          <a:p>
            <a:pPr lvl="0"/>
            <a:r>
              <a:rPr lang="de-DE" dirty="0" err="1"/>
              <a:t>MediaPipe</a:t>
            </a:r>
            <a:r>
              <a:rPr lang="de-DE" dirty="0"/>
              <a:t> in Python oder C++</a:t>
            </a:r>
          </a:p>
          <a:p>
            <a:pPr lvl="0"/>
            <a:r>
              <a:rPr lang="de-DE" dirty="0"/>
              <a:t>Matlab Simulink</a:t>
            </a:r>
          </a:p>
          <a:p>
            <a:pPr lvl="0"/>
            <a:r>
              <a:rPr lang="de-DE" dirty="0" err="1"/>
              <a:t>OpenPose</a:t>
            </a:r>
            <a:r>
              <a:rPr lang="de-DE" dirty="0"/>
              <a:t> in Python oder C++</a:t>
            </a:r>
          </a:p>
          <a:p>
            <a:pPr lvl="0"/>
            <a:r>
              <a:rPr lang="de-DE" dirty="0" err="1"/>
              <a:t>OpenCV</a:t>
            </a:r>
            <a:r>
              <a:rPr lang="de-DE" dirty="0"/>
              <a:t> in Python zur </a:t>
            </a:r>
            <a:r>
              <a:rPr lang="de-DE" dirty="0" err="1"/>
              <a:t>klassichenbildverarbeitung</a:t>
            </a:r>
            <a:endParaRPr lang="de-DE" dirty="0"/>
          </a:p>
          <a:p>
            <a:pPr lvl="0"/>
            <a:r>
              <a:rPr lang="de-DE" dirty="0"/>
              <a:t>NVIDIA Jetpack mit z.B. Python und </a:t>
            </a:r>
            <a:r>
              <a:rPr lang="de-DE" dirty="0" err="1"/>
              <a:t>MediaPipe</a:t>
            </a:r>
            <a:r>
              <a:rPr lang="de-DE" dirty="0"/>
              <a:t> Lite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303385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DCA203D-99F8-35D8-9AD2-223A9CEF6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Mediapipe und </a:t>
            </a:r>
            <a:r>
              <a:rPr lang="de-DE" dirty="0" err="1"/>
              <a:t>OpenCV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4154D09-8BC1-C5C1-C201-DBA4DF0E4A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dirty="0"/>
              <a:t>Für diese Masterarbeit wird in Betracht gezogen: klassischer und KI gestützter Bildverarbeitung zu probieren. </a:t>
            </a:r>
          </a:p>
          <a:p>
            <a:r>
              <a:rPr lang="de-DE" dirty="0" err="1"/>
              <a:t>Implementirungen</a:t>
            </a:r>
            <a:r>
              <a:rPr lang="de-DE" dirty="0"/>
              <a:t> softwarekompatibel sein und die gleiche Hardware nutzen. </a:t>
            </a:r>
          </a:p>
          <a:p>
            <a:r>
              <a:rPr lang="de-DE" dirty="0"/>
              <a:t>Ein naherliegender Ansatz ist die Kombination aus </a:t>
            </a:r>
            <a:r>
              <a:rPr lang="de-DE" dirty="0" err="1"/>
              <a:t>OpenCV</a:t>
            </a:r>
            <a:r>
              <a:rPr lang="de-DE" dirty="0"/>
              <a:t> und </a:t>
            </a:r>
            <a:r>
              <a:rPr lang="de-DE" dirty="0" err="1"/>
              <a:t>MediaPipe</a:t>
            </a:r>
            <a:r>
              <a:rPr lang="de-DE" dirty="0"/>
              <a:t>. Denn Mediapipe nutzt </a:t>
            </a:r>
            <a:r>
              <a:rPr lang="de-DE" dirty="0" err="1"/>
              <a:t>OpenCV</a:t>
            </a:r>
            <a:endParaRPr lang="de-DE" dirty="0"/>
          </a:p>
          <a:p>
            <a:r>
              <a:rPr lang="de-DE" dirty="0"/>
              <a:t>Pro - hohe Verfügbarkeit ähnlicher Projekte im Internet </a:t>
            </a:r>
          </a:p>
          <a:p>
            <a:r>
              <a:rPr lang="de-DE" dirty="0"/>
              <a:t>Kein kontra 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978645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A1FC37B-907C-3E50-1E12-87B68F2D9A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Bildschirmwahl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6485119-0D83-3334-12FB-C8D71A6B9B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de-DE" dirty="0"/>
              <a:t>Zu betrachten sind:</a:t>
            </a:r>
          </a:p>
          <a:p>
            <a:pPr lvl="0"/>
            <a:r>
              <a:rPr lang="de-DE" dirty="0"/>
              <a:t>Preis</a:t>
            </a:r>
          </a:p>
          <a:p>
            <a:pPr lvl="0"/>
            <a:r>
              <a:rPr lang="de-DE" dirty="0"/>
              <a:t>Kompatibilität – sollte kein Problem werden </a:t>
            </a:r>
          </a:p>
          <a:p>
            <a:pPr lvl="0"/>
            <a:r>
              <a:rPr lang="de-DE" dirty="0"/>
              <a:t>Größe und Gewicht</a:t>
            </a:r>
          </a:p>
          <a:p>
            <a:pPr lvl="0"/>
            <a:r>
              <a:rPr lang="de-DE" dirty="0"/>
              <a:t>Befestigungsmöglichkeiten an einem gut sichtbaren Ort im 3D-Audio-System</a:t>
            </a:r>
          </a:p>
          <a:p>
            <a:pPr lvl="0"/>
            <a:r>
              <a:rPr lang="de-DE" dirty="0"/>
              <a:t>Bildgröße und -auflösung</a:t>
            </a:r>
          </a:p>
          <a:p>
            <a:pPr lvl="0"/>
            <a:r>
              <a:rPr lang="de-DE" dirty="0"/>
              <a:t>Möglicher Verzicht auf ein extra Netzteil</a:t>
            </a:r>
          </a:p>
          <a:p>
            <a:pPr lvl="0"/>
            <a:r>
              <a:rPr lang="de-DE" dirty="0"/>
              <a:t>Touchscreen oder nicht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4523360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Grafik 3">
            <a:extLst>
              <a:ext uri="{FF2B5EF4-FFF2-40B4-BE49-F238E27FC236}">
                <a16:creationId xmlns:a16="http://schemas.microsoft.com/office/drawing/2014/main" id="{30260355-7B34-D768-01D0-F9EFD80628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2521" y="1323975"/>
            <a:ext cx="2743200" cy="2105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9" name="Grafik 4">
            <a:extLst>
              <a:ext uri="{FF2B5EF4-FFF2-40B4-BE49-F238E27FC236}">
                <a16:creationId xmlns:a16="http://schemas.microsoft.com/office/drawing/2014/main" id="{85E6B673-F3C6-6254-7E2B-B0BA4812AE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8721" y="3512839"/>
            <a:ext cx="2590800" cy="259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873C693-06ED-920F-BF36-5CF489A937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8721" y="950614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de-DE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4"/>
              </a:rPr>
              <a:t>10,5 Zoll Tragbarer Monitor</a:t>
            </a:r>
            <a:r>
              <a:rPr kumimoji="0" lang="en-US" altLang="de-DE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58€</a:t>
            </a:r>
            <a:endParaRPr kumimoji="0" lang="de-DE" altLang="de-DE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de-DE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1920x1280 3:2</a:t>
            </a:r>
            <a:endParaRPr kumimoji="0" lang="de-DE" altLang="de-DE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altLang="de-D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451C484-6CDE-6461-9B06-87F980B2A1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8721" y="3512839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de-DE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endParaRPr kumimoji="0" lang="en-US" altLang="de-D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025D81-BEBA-7B65-8A20-631C953B94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8721" y="6103639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de-DE"/>
          </a:p>
        </p:txBody>
      </p:sp>
      <p:pic>
        <p:nvPicPr>
          <p:cNvPr id="2055" name="Grafik 5">
            <a:extLst>
              <a:ext uri="{FF2B5EF4-FFF2-40B4-BE49-F238E27FC236}">
                <a16:creationId xmlns:a16="http://schemas.microsoft.com/office/drawing/2014/main" id="{1B7FA177-727D-5425-5DE6-0FBCE3CBC8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9861" y="1211560"/>
            <a:ext cx="2667000" cy="2486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Grafik 6">
            <a:extLst>
              <a:ext uri="{FF2B5EF4-FFF2-40B4-BE49-F238E27FC236}">
                <a16:creationId xmlns:a16="http://schemas.microsoft.com/office/drawing/2014/main" id="{FCA5DED6-D118-9328-6A61-D6058037E0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9861" y="3697585"/>
            <a:ext cx="2600325" cy="2533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8">
            <a:extLst>
              <a:ext uri="{FF2B5EF4-FFF2-40B4-BE49-F238E27FC236}">
                <a16:creationId xmlns:a16="http://schemas.microsoft.com/office/drawing/2014/main" id="{535C0A79-BB27-7BFE-3C42-F7EF5DD78D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09861" y="75436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de-DE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7"/>
              </a:rPr>
              <a:t>Mini-HDMI-Monitor, 17,8 cm (7 Zoll)</a:t>
            </a:r>
            <a:r>
              <a:rPr kumimoji="0" lang="en-US" altLang="de-DE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48€</a:t>
            </a:r>
            <a:endParaRPr kumimoji="0" lang="de-DE" altLang="de-DE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altLang="de-D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9">
            <a:extLst>
              <a:ext uri="{FF2B5EF4-FFF2-40B4-BE49-F238E27FC236}">
                <a16:creationId xmlns:a16="http://schemas.microsoft.com/office/drawing/2014/main" id="{F0BCB9AC-DE7F-5E9E-5545-8E8301D913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09861" y="369758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de-DE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endParaRPr kumimoji="0" lang="en-US" altLang="de-D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10">
            <a:extLst>
              <a:ext uri="{FF2B5EF4-FFF2-40B4-BE49-F238E27FC236}">
                <a16:creationId xmlns:a16="http://schemas.microsoft.com/office/drawing/2014/main" id="{70F6A5F9-0863-007E-49A2-BC7CB57905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09861" y="623123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de-DE"/>
          </a:p>
        </p:txBody>
      </p:sp>
      <p:pic>
        <p:nvPicPr>
          <p:cNvPr id="2060" name="Grafik 7">
            <a:extLst>
              <a:ext uri="{FF2B5EF4-FFF2-40B4-BE49-F238E27FC236}">
                <a16:creationId xmlns:a16="http://schemas.microsoft.com/office/drawing/2014/main" id="{B0BFA258-D214-DE3A-E4B8-BEB98BE51E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5061" y="1211560"/>
            <a:ext cx="2571750" cy="2571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9" name="Grafik 8">
            <a:extLst>
              <a:ext uri="{FF2B5EF4-FFF2-40B4-BE49-F238E27FC236}">
                <a16:creationId xmlns:a16="http://schemas.microsoft.com/office/drawing/2014/main" id="{96C60819-3EF4-5E13-9C92-D0A6088E47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5061" y="3783310"/>
            <a:ext cx="2600325" cy="2600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13">
            <a:extLst>
              <a:ext uri="{FF2B5EF4-FFF2-40B4-BE49-F238E27FC236}">
                <a16:creationId xmlns:a16="http://schemas.microsoft.com/office/drawing/2014/main" id="{BAAA32D3-3ADC-1B96-AB36-03F3AF6755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15061" y="75436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de-DE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10"/>
              </a:rPr>
              <a:t>ELECROW Touchscreen, 10.1 Zoll 1280×800 HD</a:t>
            </a:r>
            <a:r>
              <a:rPr kumimoji="0" lang="en-US" altLang="de-DE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85€</a:t>
            </a:r>
            <a:endParaRPr kumimoji="0" lang="de-DE" altLang="de-DE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altLang="de-D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14">
            <a:extLst>
              <a:ext uri="{FF2B5EF4-FFF2-40B4-BE49-F238E27FC236}">
                <a16:creationId xmlns:a16="http://schemas.microsoft.com/office/drawing/2014/main" id="{354364EB-DE2E-A1B5-FF88-D5DF19E618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15061" y="378331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de-DE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endParaRPr kumimoji="0" lang="en-US" altLang="de-D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Rectangle 15">
            <a:extLst>
              <a:ext uri="{FF2B5EF4-FFF2-40B4-BE49-F238E27FC236}">
                <a16:creationId xmlns:a16="http://schemas.microsoft.com/office/drawing/2014/main" id="{8D30E779-1685-DB85-EBC1-E56E8243D6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15061" y="638363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472811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Grafik 17" descr="ZenScreen MB169CK">
            <a:extLst>
              <a:ext uri="{FF2B5EF4-FFF2-40B4-BE49-F238E27FC236}">
                <a16:creationId xmlns:a16="http://schemas.microsoft.com/office/drawing/2014/main" id="{78523898-14E1-1288-7ED6-6BCD2CE523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57200"/>
            <a:ext cx="2628900" cy="2628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Grafik 14" descr="ASUS ZenScreen MB169CK">
            <a:extLst>
              <a:ext uri="{FF2B5EF4-FFF2-40B4-BE49-F238E27FC236}">
                <a16:creationId xmlns:a16="http://schemas.microsoft.com/office/drawing/2014/main" id="{901F7525-A57D-1F76-D78B-C3BFC4A2B2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086100"/>
            <a:ext cx="2657475" cy="2657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3" name="Grafik 15" descr="ZenScreen MB169CK">
            <a:extLst>
              <a:ext uri="{FF2B5EF4-FFF2-40B4-BE49-F238E27FC236}">
                <a16:creationId xmlns:a16="http://schemas.microsoft.com/office/drawing/2014/main" id="{1999D45B-B469-1DDC-0B45-DFA0C20DA3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5260" y="3543300"/>
            <a:ext cx="2647950" cy="2647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4">
            <a:extLst>
              <a:ext uri="{FF2B5EF4-FFF2-40B4-BE49-F238E27FC236}">
                <a16:creationId xmlns:a16="http://schemas.microsoft.com/office/drawing/2014/main" id="{8C0963FC-C96D-9461-EB8B-C189974642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5"/>
              </a:rPr>
              <a:t>ASUS ZenScreen MB169CK Tragbarer 16 Zoll USB-Monitor</a:t>
            </a:r>
            <a:r>
              <a:rPr kumimoji="0" lang="de-DE" altLang="de-DE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110€</a:t>
            </a:r>
            <a:endParaRPr kumimoji="0" lang="de-DE" altLang="de-DE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altLang="de-D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C49DA58-E1E7-BB05-ED4D-43808E72DC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861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endParaRPr kumimoji="0" lang="de-DE" altLang="de-D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AC1ED2C-739E-C39A-38EE-5D825DF442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7435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endParaRPr kumimoji="0" lang="de-DE" altLang="de-D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080" name="Grafik 18">
            <a:extLst>
              <a:ext uri="{FF2B5EF4-FFF2-40B4-BE49-F238E27FC236}">
                <a16:creationId xmlns:a16="http://schemas.microsoft.com/office/drawing/2014/main" id="{509F4DFE-42FC-8220-CD27-CD43CEFC0D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5779" y="673163"/>
            <a:ext cx="2705100" cy="2343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9" name="Grafik 19">
            <a:extLst>
              <a:ext uri="{FF2B5EF4-FFF2-40B4-BE49-F238E27FC236}">
                <a16:creationId xmlns:a16="http://schemas.microsoft.com/office/drawing/2014/main" id="{C267B6F3-1C91-6378-FF88-89BB489222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5779" y="3016313"/>
            <a:ext cx="2628900" cy="3143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9">
            <a:extLst>
              <a:ext uri="{FF2B5EF4-FFF2-40B4-BE49-F238E27FC236}">
                <a16:creationId xmlns:a16="http://schemas.microsoft.com/office/drawing/2014/main" id="{CE2C867C-E8DB-83DD-F33C-9974B412B7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5779" y="215963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8"/>
              </a:rPr>
              <a:t>Portable Monitor 12,3 Zoll,1920x1280</a:t>
            </a:r>
            <a:r>
              <a:rPr kumimoji="0" lang="de-DE" altLang="de-DE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80€</a:t>
            </a:r>
            <a:endParaRPr kumimoji="0" lang="de-DE" altLang="de-DE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altLang="de-D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10">
            <a:extLst>
              <a:ext uri="{FF2B5EF4-FFF2-40B4-BE49-F238E27FC236}">
                <a16:creationId xmlns:a16="http://schemas.microsoft.com/office/drawing/2014/main" id="{3E7F7750-3246-59F3-6094-87AF5A9031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5779" y="301631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endParaRPr kumimoji="0" lang="de-DE" altLang="de-D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10015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99104816-40F1-FA68-CCB0-476895AFE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6884" y="38501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19748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19748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19748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19748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19748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19748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19748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19748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19748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974850" algn="l"/>
              </a:tabLst>
            </a:pPr>
            <a:r>
              <a:rPr kumimoji="0" lang="en-US" altLang="de-DE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2"/>
              </a:rPr>
              <a:t>AWOW Mini PC AMD Ryzen Embedded R2514</a:t>
            </a:r>
            <a:r>
              <a:rPr kumimoji="0" lang="en-US" altLang="de-DE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~ 250 €</a:t>
            </a:r>
            <a:endParaRPr kumimoji="0" lang="de-DE" altLang="de-DE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974850" algn="l"/>
              </a:tabLst>
            </a:pPr>
            <a:endParaRPr kumimoji="0" lang="de-DE" altLang="de-D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097" name="Grafik 6">
            <a:extLst>
              <a:ext uri="{FF2B5EF4-FFF2-40B4-BE49-F238E27FC236}">
                <a16:creationId xmlns:a16="http://schemas.microsoft.com/office/drawing/2014/main" id="{F01B7A9E-9F90-EC29-A048-92F85B9B22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991" y="842210"/>
            <a:ext cx="5400675" cy="3533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20DFC015-D2D9-1E69-58E5-6F831E6EBE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6884" y="4888816"/>
            <a:ext cx="4475748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altLang="de-DE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(4 Kerne, bis 3,7 GHz), 16GB DDR4, 512GB PCIe 3.0 SSD, Radeon Graphics, 4K Display 1000M </a:t>
            </a:r>
            <a:r>
              <a:rPr kumimoji="0" lang="de-DE" altLang="de-DE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LAN,WiFi</a:t>
            </a:r>
            <a:r>
              <a:rPr kumimoji="0" lang="de-DE" altLang="de-DE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5</a:t>
            </a:r>
            <a:endParaRPr kumimoji="0" lang="de-DE" altLang="de-DE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Ca. 13x13x4 cm</a:t>
            </a:r>
            <a:endParaRPr kumimoji="0" lang="de-DE" altLang="de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8">
            <a:extLst>
              <a:ext uri="{FF2B5EF4-FFF2-40B4-BE49-F238E27FC236}">
                <a16:creationId xmlns:a16="http://schemas.microsoft.com/office/drawing/2014/main" id="{34B6BCA4-5559-2D18-036E-90904BAD21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452387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1974850" algn="l"/>
                <a:tab pos="2828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1974850" algn="l"/>
                <a:tab pos="2828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1974850" algn="l"/>
                <a:tab pos="2828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1974850" algn="l"/>
                <a:tab pos="2828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1974850" algn="l"/>
                <a:tab pos="2828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1974850" algn="l"/>
                <a:tab pos="2828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1974850" algn="l"/>
                <a:tab pos="2828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1974850" algn="l"/>
                <a:tab pos="2828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1974850" algn="l"/>
                <a:tab pos="2828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974850" algn="l"/>
                <a:tab pos="2828925" algn="l"/>
              </a:tabLst>
            </a:pPr>
            <a:r>
              <a:rPr kumimoji="0" lang="de-DE" altLang="de-DE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4"/>
              </a:rPr>
              <a:t>ACEMAGIC K1 Mini PC</a:t>
            </a:r>
            <a:r>
              <a:rPr kumimoji="0" lang="de-DE" altLang="de-DE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	~320 €	</a:t>
            </a:r>
            <a:endParaRPr kumimoji="0" lang="de-DE" altLang="de-DE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974850" algn="l"/>
                <a:tab pos="2828925" algn="l"/>
              </a:tabLst>
            </a:pPr>
            <a:endParaRPr kumimoji="0" lang="de-DE" altLang="de-D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103" name="Grafik 5">
            <a:extLst>
              <a:ext uri="{FF2B5EF4-FFF2-40B4-BE49-F238E27FC236}">
                <a16:creationId xmlns:a16="http://schemas.microsoft.com/office/drawing/2014/main" id="{68A01423-B560-9E2F-5ABC-2D9E3C1120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909587"/>
            <a:ext cx="5400675" cy="4162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9">
            <a:extLst>
              <a:ext uri="{FF2B5EF4-FFF2-40B4-BE49-F238E27FC236}">
                <a16:creationId xmlns:a16="http://schemas.microsoft.com/office/drawing/2014/main" id="{732AB124-0857-31B4-F60D-83ECDC2586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5491213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AMD Ryzen 4300U Windows 11 Pro Mini PC (bis zu 4 x 3,70 GHz),16GB DDR4 </a:t>
            </a:r>
            <a:endParaRPr kumimoji="0" lang="de-DE" altLang="de-DE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512GB M.2 SSD </a:t>
            </a:r>
            <a:endParaRPr kumimoji="0" lang="de-DE" altLang="de-DE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Mini Computer mit RJ45 </a:t>
            </a:r>
            <a:endParaRPr kumimoji="0" lang="de-DE" altLang="de-DE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de-DE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4K Triple Display </a:t>
            </a:r>
            <a:endParaRPr kumimoji="0" lang="de-DE" altLang="de-DE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de-DE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WiFi</a:t>
            </a:r>
            <a:r>
              <a:rPr kumimoji="0" lang="en-US" altLang="de-DE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5</a:t>
            </a:r>
            <a:endParaRPr kumimoji="0" lang="de-DE" altLang="de-DE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de-DE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12.8x12.8x4 cm und 550 Gramm</a:t>
            </a:r>
            <a:endParaRPr kumimoji="0" lang="en-US" altLang="de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57185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865DB206-EC9A-85AA-5A47-AA282A3F17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3512" y="154004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1974850" algn="l"/>
                <a:tab pos="452913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1974850" algn="l"/>
                <a:tab pos="452913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1974850" algn="l"/>
                <a:tab pos="452913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1974850" algn="l"/>
                <a:tab pos="452913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1974850" algn="l"/>
                <a:tab pos="452913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1974850" algn="l"/>
                <a:tab pos="452913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1974850" algn="l"/>
                <a:tab pos="452913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1974850" algn="l"/>
                <a:tab pos="452913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1974850" algn="l"/>
                <a:tab pos="452913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974850" algn="l"/>
                <a:tab pos="4529138" algn="l"/>
              </a:tabLst>
            </a:pPr>
            <a:r>
              <a:rPr kumimoji="0" lang="de-DE" altLang="de-DE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2"/>
              </a:rPr>
              <a:t>GMKtec NucBox G10 AMD® Ryzen™ 5 3500U Mini-PC</a:t>
            </a:r>
            <a:r>
              <a:rPr kumimoji="0" lang="de-DE" altLang="de-DE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~ 300€	</a:t>
            </a:r>
            <a:endParaRPr kumimoji="0" lang="de-DE" altLang="de-DE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974850" algn="l"/>
                <a:tab pos="4529138" algn="l"/>
              </a:tabLst>
            </a:pPr>
            <a:endParaRPr kumimoji="0" lang="de-DE" altLang="de-D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121" name="Grafik 7">
            <a:extLst>
              <a:ext uri="{FF2B5EF4-FFF2-40B4-BE49-F238E27FC236}">
                <a16:creationId xmlns:a16="http://schemas.microsoft.com/office/drawing/2014/main" id="{292B6550-65FC-062A-B9D6-21E889B303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512" y="611204"/>
            <a:ext cx="5400675" cy="540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22B9EAAB-FA9A-436D-9603-E7F7372A65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67815" y="178993"/>
            <a:ext cx="5672488" cy="6370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CPU	AMD Ryzen™ 5 3500U, 4 Kerne/8 Threads, 12nm Technologie, bis zu 3.7 GHz</a:t>
            </a:r>
            <a:endParaRPr kumimoji="0" lang="de-DE" altLang="de-DE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de-DE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4 MB L3 Cache, TDP: 25W, Max TDP 35W</a:t>
            </a:r>
            <a:endParaRPr kumimoji="0" lang="de-DE" altLang="de-DE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GPU	AMD Radeon™ Vega 8 Graphics, 8 Kerne, 1200 MHz GPU-Frequenz</a:t>
            </a:r>
            <a:endParaRPr kumimoji="0" lang="de-DE" altLang="de-DE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Graphikeinheiten	8</a:t>
            </a:r>
            <a:endParaRPr kumimoji="0" lang="de-DE" altLang="de-DE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Arbeitsspeicher (RAM)	DDR4 2400 MT/s, SO-DIMM*2, 16GB/32GB verfügbar</a:t>
            </a:r>
            <a:endParaRPr kumimoji="0" lang="de-DE" altLang="de-DE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Maximal bis zu 64 GB unterstützt</a:t>
            </a:r>
            <a:endParaRPr kumimoji="0" lang="de-DE" altLang="de-DE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Speicher (ROM)	PCIe 3.0 M.2 2280 SSD, 512GB/1TB verfügbar</a:t>
            </a:r>
            <a:endParaRPr kumimoji="0" lang="de-DE" altLang="de-DE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Erweiterbar auf bis zu 16TB (2×8TB)</a:t>
            </a:r>
            <a:endParaRPr kumimoji="0" lang="de-DE" altLang="de-DE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Videoausgang	HDMI 2.1 (4K@60Hz) *1 + DP 1.4 (8K) *1 + Type-C (DP 1.4 4K@30Hz)</a:t>
            </a:r>
            <a:endParaRPr kumimoji="0" lang="de-DE" altLang="de-DE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Dreifach 4K-Ausgabe unterstützt</a:t>
            </a:r>
            <a:endParaRPr kumimoji="0" lang="de-DE" altLang="de-DE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Drahtlose Verbindung	WiFi 5 (802.11ac) bis zu 866.7Mbps, Bluetooth 5.0</a:t>
            </a:r>
            <a:endParaRPr kumimoji="0" lang="de-DE" altLang="de-DE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de-DE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Realtek RTL8822CE Chip</a:t>
            </a:r>
            <a:endParaRPr kumimoji="0" lang="de-DE" altLang="de-DE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de-DE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Netzwerk</a:t>
            </a:r>
            <a:r>
              <a:rPr kumimoji="0" lang="en-US" altLang="de-DE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	2.5G Ethernet (RJ45)*1</a:t>
            </a:r>
            <a:endParaRPr kumimoji="0" lang="de-DE" altLang="de-DE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Realtek 8125BG Chip, unterstützt 2500M/1000M/100M/10M</a:t>
            </a:r>
            <a:endParaRPr kumimoji="0" lang="de-DE" altLang="de-DE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USB-Anschlüsse	USB 3.2 Gen1 (5Gbps)*2 + USB 2.0*1 + Type-C (PD+DP+USB3.2)*1 + Type-C (PD </a:t>
            </a:r>
            <a:r>
              <a:rPr kumimoji="0" lang="de-DE" altLang="de-DE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only</a:t>
            </a:r>
            <a:r>
              <a:rPr kumimoji="0" lang="de-DE" altLang="de-DE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)*1</a:t>
            </a:r>
            <a:endParaRPr kumimoji="0" lang="de-DE" altLang="de-DE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Audioanschluss	</a:t>
            </a:r>
            <a:r>
              <a:rPr kumimoji="0" lang="de-DE" altLang="de-DE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Cambria Math" panose="02040503050406030204" pitchFamily="18" charset="0"/>
              </a:rPr>
              <a:t>∮</a:t>
            </a:r>
            <a:r>
              <a:rPr kumimoji="0" lang="de-DE" altLang="de-DE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3.5mm, CTIA</a:t>
            </a:r>
            <a:endParaRPr kumimoji="0" lang="de-DE" altLang="de-DE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Amerikanischer Standard</a:t>
            </a:r>
            <a:endParaRPr kumimoji="0" lang="de-DE" altLang="de-DE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Ladeanschluss	Type-C PD (19V/3.42A)</a:t>
            </a:r>
            <a:endParaRPr kumimoji="0" lang="de-DE" altLang="de-DE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Stromversorgung	Externes Netzteil (im Lieferumfang enthalten)</a:t>
            </a:r>
            <a:endParaRPr kumimoji="0" lang="de-DE" altLang="de-DE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Tastatur	Unterstützt externe Tastatur</a:t>
            </a:r>
            <a:endParaRPr kumimoji="0" lang="de-DE" altLang="de-DE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Anzeigeleuchte	Weißes Power-Indikatorlicht</a:t>
            </a:r>
            <a:endParaRPr kumimoji="0" lang="de-DE" altLang="de-DE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Betriebssystem	Windows 11 Pro (14 Sprachversionen)</a:t>
            </a:r>
            <a:endParaRPr kumimoji="0" lang="de-DE" altLang="de-DE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Maße	103 mm × 98 mm × 42 mm</a:t>
            </a:r>
            <a:endParaRPr kumimoji="0" lang="de-DE" altLang="de-DE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Gewicht	Nicht spezifiziert</a:t>
            </a:r>
            <a:endParaRPr kumimoji="0" lang="de-DE" altLang="de-DE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Verpackungsmaße	163 mm × 156.6 mm × 104.5 mm (Einzelverpackung)</a:t>
            </a:r>
            <a:endParaRPr kumimoji="0" lang="de-DE" altLang="de-DE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Farbe	Apfelsilber (Oberseite) + Schwarz (Unterseite)</a:t>
            </a:r>
            <a:endParaRPr kumimoji="0" lang="de-DE" altLang="de-DE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Verarbeitung	Oberseite: lackiert + abriebfest; Unterseite: Texturierung</a:t>
            </a:r>
            <a:endParaRPr kumimoji="0" lang="de-DE" altLang="de-DE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Lieferumfang	Bedienungsanleitung, Garantiekarte, Netzteil, VESA-Halterung, HDMI-Kabel</a:t>
            </a:r>
            <a:endParaRPr kumimoji="0" lang="de-DE" altLang="de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32408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D44D6D4-CEA6-3FA2-02F1-7243551A5D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Kamerawahl</a:t>
            </a:r>
          </a:p>
        </p:txBody>
      </p:sp>
      <p:pic>
        <p:nvPicPr>
          <p:cNvPr id="4" name="Inhaltsplatzhalter 3">
            <a:extLst>
              <a:ext uri="{FF2B5EF4-FFF2-40B4-BE49-F238E27FC236}">
                <a16:creationId xmlns:a16="http://schemas.microsoft.com/office/drawing/2014/main" id="{A3BE9724-F69D-3472-1F0E-49CD79E9A2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486" r="8681"/>
          <a:stretch>
            <a:fillRect/>
          </a:stretch>
        </p:blipFill>
        <p:spPr bwMode="auto">
          <a:xfrm>
            <a:off x="540832" y="1690688"/>
            <a:ext cx="2600077" cy="1865021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24FDB4D4-CE8B-31B6-0C89-A62603674D1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8899"/>
          <a:stretch>
            <a:fillRect/>
          </a:stretch>
        </p:blipFill>
        <p:spPr bwMode="auto">
          <a:xfrm>
            <a:off x="3744286" y="1352525"/>
            <a:ext cx="2640330" cy="262509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6EF79B76-A1C1-0240-C1AA-54387F67FFB7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9849"/>
          <a:stretch>
            <a:fillRect/>
          </a:stretch>
        </p:blipFill>
        <p:spPr bwMode="auto">
          <a:xfrm>
            <a:off x="6987993" y="1143668"/>
            <a:ext cx="2605405" cy="262572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7211C61C-D565-F66F-8348-3F6C25C1C3D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611" y="3867785"/>
            <a:ext cx="3713265" cy="262509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081D0E3E-133E-2157-C62B-0F59F6CE026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1253" y="3916550"/>
            <a:ext cx="2827061" cy="2827061"/>
          </a:xfrm>
          <a:prstGeom prst="rect">
            <a:avLst/>
          </a:prstGeom>
          <a:noFill/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F559E10C-C2F0-F367-CD13-9CA298E5235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8314" y="3809832"/>
            <a:ext cx="2067666" cy="22770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F568B7AD-674B-A3DA-F230-6E12441F669B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0953" y="4370428"/>
            <a:ext cx="2137449" cy="226915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688471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A8FCDFD-E362-47C5-AC10-80111FDF2C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Simulation: FOV, Standzone und Armbereich</a:t>
            </a:r>
          </a:p>
        </p:txBody>
      </p:sp>
      <p:pic>
        <p:nvPicPr>
          <p:cNvPr id="4" name="Inhaltsplatzhalter 3" descr="Medell des 3D-Audiosystems">
            <a:extLst>
              <a:ext uri="{FF2B5EF4-FFF2-40B4-BE49-F238E27FC236}">
                <a16:creationId xmlns:a16="http://schemas.microsoft.com/office/drawing/2014/main" id="{34A443D2-F2F5-DDE8-4C2A-2DDFCC5ACF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808" y="1690688"/>
            <a:ext cx="2660201" cy="1882923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ADED9038-7D98-F7AB-9435-5179C6B7DCF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3518" y="1658937"/>
            <a:ext cx="2654935" cy="1876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185ADF4A-C395-61BC-8B2E-B9C4BDCF4F9F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26" r="10592"/>
          <a:stretch>
            <a:fillRect/>
          </a:stretch>
        </p:blipFill>
        <p:spPr bwMode="auto">
          <a:xfrm>
            <a:off x="5609088" y="1690688"/>
            <a:ext cx="2505075" cy="206375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01457D99-F0DC-BCA5-E8F8-D154035C80D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8517" y="1690688"/>
            <a:ext cx="2886075" cy="2039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7CA73C56-7A25-4F46-F91A-8298EB64B09A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486" r="8681"/>
          <a:stretch>
            <a:fillRect/>
          </a:stretch>
        </p:blipFill>
        <p:spPr bwMode="auto">
          <a:xfrm>
            <a:off x="945372" y="3567113"/>
            <a:ext cx="3916292" cy="2804639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1104D160-8BAB-3F84-B4CC-975ACEE603B2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982"/>
          <a:stretch>
            <a:fillRect/>
          </a:stretch>
        </p:blipFill>
        <p:spPr bwMode="auto">
          <a:xfrm>
            <a:off x="6125418" y="3782444"/>
            <a:ext cx="3562068" cy="2595114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5878010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401925-450C-1BD4-5113-8BB80485A8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D06540D-F9A0-67DF-8F21-AD65C6292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Zwei Ausrichtungen</a:t>
            </a:r>
          </a:p>
        </p:txBody>
      </p:sp>
      <p:pic>
        <p:nvPicPr>
          <p:cNvPr id="4" name="Inhaltsplatzhalter 3">
            <a:extLst>
              <a:ext uri="{FF2B5EF4-FFF2-40B4-BE49-F238E27FC236}">
                <a16:creationId xmlns:a16="http://schemas.microsoft.com/office/drawing/2014/main" id="{7FEC1676-E103-3B97-74F4-32062C9079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8899"/>
          <a:stretch>
            <a:fillRect/>
          </a:stretch>
        </p:blipFill>
        <p:spPr bwMode="auto">
          <a:xfrm>
            <a:off x="5991261" y="1808320"/>
            <a:ext cx="4353667" cy="432989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D7EAAD58-B5E0-8994-0796-CB523E00BFE2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9849"/>
          <a:stretch>
            <a:fillRect/>
          </a:stretch>
        </p:blipFill>
        <p:spPr bwMode="auto">
          <a:xfrm>
            <a:off x="838200" y="1808320"/>
            <a:ext cx="4296382" cy="432989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F7626017-220A-7CC5-0BBA-37699AC133A0}"/>
              </a:ext>
            </a:extLst>
          </p:cNvPr>
          <p:cNvSpPr txBox="1"/>
          <p:nvPr/>
        </p:nvSpPr>
        <p:spPr>
          <a:xfrm>
            <a:off x="2148918" y="1742636"/>
            <a:ext cx="16749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90° Ausrichtung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5245C2A7-8966-E411-CA84-84D5EFFB66F4}"/>
              </a:ext>
            </a:extLst>
          </p:cNvPr>
          <p:cNvSpPr txBox="1"/>
          <p:nvPr/>
        </p:nvSpPr>
        <p:spPr>
          <a:xfrm>
            <a:off x="6725805" y="1742636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/>
              <a:t>45° Ausrichtung</a:t>
            </a:r>
          </a:p>
        </p:txBody>
      </p:sp>
    </p:spTree>
    <p:extLst>
      <p:ext uri="{BB962C8B-B14F-4D97-AF65-F5344CB8AC3E}">
        <p14:creationId xmlns:p14="http://schemas.microsoft.com/office/powerpoint/2010/main" val="16511117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510D077-B63B-FC8A-B689-8E6DC38DB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Räumliche Begrenzung</a:t>
            </a:r>
          </a:p>
        </p:txBody>
      </p:sp>
      <p:pic>
        <p:nvPicPr>
          <p:cNvPr id="4" name="Inhaltsplatzhalter 3">
            <a:extLst>
              <a:ext uri="{FF2B5EF4-FFF2-40B4-BE49-F238E27FC236}">
                <a16:creationId xmlns:a16="http://schemas.microsoft.com/office/drawing/2014/main" id="{AAAACDD6-55B7-ACE8-BD80-7038CA45D8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913" t="4415" r="17500" b="6143"/>
          <a:stretch>
            <a:fillRect/>
          </a:stretch>
        </p:blipFill>
        <p:spPr bwMode="auto">
          <a:xfrm>
            <a:off x="6228784" y="2130107"/>
            <a:ext cx="4399984" cy="430074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0F485C89-8193-D7F0-8A7E-9FCF0C29345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84" t="5015" r="17474" b="6073"/>
          <a:stretch>
            <a:fillRect/>
          </a:stretch>
        </p:blipFill>
        <p:spPr bwMode="auto">
          <a:xfrm>
            <a:off x="674144" y="2130107"/>
            <a:ext cx="4466212" cy="436276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4890400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AE9ABF2-358C-0FC0-6B24-7F680A420F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Kamerapositionen</a:t>
            </a:r>
          </a:p>
        </p:txBody>
      </p:sp>
      <p:pic>
        <p:nvPicPr>
          <p:cNvPr id="4" name="Inhaltsplatzhalter 3">
            <a:extLst>
              <a:ext uri="{FF2B5EF4-FFF2-40B4-BE49-F238E27FC236}">
                <a16:creationId xmlns:a16="http://schemas.microsoft.com/office/drawing/2014/main" id="{D2FD3149-27EB-9A86-066B-5E24A096B5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7489" y="953167"/>
            <a:ext cx="4377925" cy="3089507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F1B5708C-728E-41D0-241C-0DF45408B98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678" y="1952222"/>
            <a:ext cx="4370196" cy="308950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" name="Tabelle 5">
            <a:extLst>
              <a:ext uri="{FF2B5EF4-FFF2-40B4-BE49-F238E27FC236}">
                <a16:creationId xmlns:a16="http://schemas.microsoft.com/office/drawing/2014/main" id="{A91BB63E-A2CD-6AE6-25C0-E2BB4F5BFB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3654575"/>
              </p:ext>
            </p:extLst>
          </p:nvPr>
        </p:nvGraphicFramePr>
        <p:xfrm>
          <a:off x="5910325" y="4200415"/>
          <a:ext cx="5393690" cy="109728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78230">
                  <a:extLst>
                    <a:ext uri="{9D8B030D-6E8A-4147-A177-3AD203B41FA5}">
                      <a16:colId xmlns:a16="http://schemas.microsoft.com/office/drawing/2014/main" val="2088906747"/>
                    </a:ext>
                  </a:extLst>
                </a:gridCol>
                <a:gridCol w="1078865">
                  <a:extLst>
                    <a:ext uri="{9D8B030D-6E8A-4147-A177-3AD203B41FA5}">
                      <a16:colId xmlns:a16="http://schemas.microsoft.com/office/drawing/2014/main" val="1771843396"/>
                    </a:ext>
                  </a:extLst>
                </a:gridCol>
                <a:gridCol w="1078865">
                  <a:extLst>
                    <a:ext uri="{9D8B030D-6E8A-4147-A177-3AD203B41FA5}">
                      <a16:colId xmlns:a16="http://schemas.microsoft.com/office/drawing/2014/main" val="2114917875"/>
                    </a:ext>
                  </a:extLst>
                </a:gridCol>
                <a:gridCol w="1078865">
                  <a:extLst>
                    <a:ext uri="{9D8B030D-6E8A-4147-A177-3AD203B41FA5}">
                      <a16:colId xmlns:a16="http://schemas.microsoft.com/office/drawing/2014/main" val="1517269676"/>
                    </a:ext>
                  </a:extLst>
                </a:gridCol>
                <a:gridCol w="1078865">
                  <a:extLst>
                    <a:ext uri="{9D8B030D-6E8A-4147-A177-3AD203B41FA5}">
                      <a16:colId xmlns:a16="http://schemas.microsoft.com/office/drawing/2014/main" val="42490090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 dirty="0">
                          <a:effectLst/>
                        </a:rPr>
                        <a:t> h [cm]</a:t>
                      </a:r>
                      <a:endParaRPr lang="de-DE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>
                          <a:effectLst/>
                        </a:rPr>
                        <a:t>t [cm]</a:t>
                      </a:r>
                      <a:endParaRPr lang="de-D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>
                          <a:effectLst/>
                        </a:rPr>
                        <a:t>n [deg]</a:t>
                      </a:r>
                      <a:endParaRPr lang="de-D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>
                          <a:effectLst/>
                        </a:rPr>
                        <a:t>h [deg]</a:t>
                      </a:r>
                      <a:endParaRPr lang="de-D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>
                          <a:effectLst/>
                        </a:rPr>
                        <a:t>v [deg]</a:t>
                      </a:r>
                      <a:endParaRPr lang="de-D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699556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>
                          <a:effectLst/>
                        </a:rPr>
                        <a:t>170</a:t>
                      </a:r>
                      <a:endParaRPr lang="de-D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>
                          <a:effectLst/>
                        </a:rPr>
                        <a:t>235</a:t>
                      </a:r>
                      <a:endParaRPr lang="de-D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>
                          <a:effectLst/>
                        </a:rPr>
                        <a:t>2</a:t>
                      </a:r>
                      <a:endParaRPr lang="de-D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>
                          <a:effectLst/>
                        </a:rPr>
                        <a:t>75</a:t>
                      </a:r>
                      <a:endParaRPr lang="de-D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>
                          <a:effectLst/>
                        </a:rPr>
                        <a:t>51</a:t>
                      </a:r>
                      <a:endParaRPr lang="de-D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52531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>
                          <a:effectLst/>
                        </a:rPr>
                        <a:t>220</a:t>
                      </a:r>
                      <a:endParaRPr lang="de-D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>
                          <a:effectLst/>
                        </a:rPr>
                        <a:t>235</a:t>
                      </a:r>
                      <a:endParaRPr lang="de-D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>
                          <a:effectLst/>
                        </a:rPr>
                        <a:t>13</a:t>
                      </a:r>
                      <a:endParaRPr lang="de-D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>
                          <a:effectLst/>
                        </a:rPr>
                        <a:t>74</a:t>
                      </a:r>
                      <a:endParaRPr lang="de-D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>
                          <a:effectLst/>
                        </a:rPr>
                        <a:t>49</a:t>
                      </a:r>
                      <a:endParaRPr lang="de-D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482004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>
                          <a:effectLst/>
                        </a:rPr>
                        <a:t>270</a:t>
                      </a:r>
                      <a:endParaRPr lang="de-D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>
                          <a:effectLst/>
                        </a:rPr>
                        <a:t>235</a:t>
                      </a:r>
                      <a:endParaRPr lang="de-D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>
                          <a:effectLst/>
                        </a:rPr>
                        <a:t>23</a:t>
                      </a:r>
                      <a:endParaRPr lang="de-D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>
                          <a:effectLst/>
                        </a:rPr>
                        <a:t>70</a:t>
                      </a:r>
                      <a:endParaRPr lang="de-D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>
                          <a:effectLst/>
                        </a:rPr>
                        <a:t>45</a:t>
                      </a:r>
                      <a:endParaRPr lang="de-D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246005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>
                          <a:effectLst/>
                        </a:rPr>
                        <a:t>270</a:t>
                      </a:r>
                      <a:endParaRPr lang="de-D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>
                          <a:effectLst/>
                        </a:rPr>
                        <a:t>185</a:t>
                      </a:r>
                      <a:endParaRPr lang="de-D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>
                          <a:effectLst/>
                        </a:rPr>
                        <a:t>28</a:t>
                      </a:r>
                      <a:endParaRPr lang="de-D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>
                          <a:effectLst/>
                        </a:rPr>
                        <a:t>84</a:t>
                      </a:r>
                      <a:endParaRPr lang="de-D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>
                          <a:effectLst/>
                        </a:rPr>
                        <a:t>53</a:t>
                      </a:r>
                      <a:endParaRPr lang="de-D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651734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>
                          <a:effectLst/>
                        </a:rPr>
                        <a:t>270</a:t>
                      </a:r>
                      <a:endParaRPr lang="de-D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>
                          <a:effectLst/>
                        </a:rPr>
                        <a:t>135</a:t>
                      </a:r>
                      <a:endParaRPr lang="de-D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>
                          <a:effectLst/>
                        </a:rPr>
                        <a:t>35</a:t>
                      </a:r>
                      <a:endParaRPr lang="de-D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>
                          <a:effectLst/>
                        </a:rPr>
                        <a:t>103</a:t>
                      </a:r>
                      <a:endParaRPr lang="de-D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 dirty="0">
                          <a:effectLst/>
                        </a:rPr>
                        <a:t>67</a:t>
                      </a:r>
                      <a:endParaRPr lang="de-DE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89503359"/>
                  </a:ext>
                </a:extLst>
              </a:tr>
            </a:tbl>
          </a:graphicData>
        </a:graphic>
      </p:graphicFrame>
      <p:graphicFrame>
        <p:nvGraphicFramePr>
          <p:cNvPr id="7" name="Tabelle 6">
            <a:extLst>
              <a:ext uri="{FF2B5EF4-FFF2-40B4-BE49-F238E27FC236}">
                <a16:creationId xmlns:a16="http://schemas.microsoft.com/office/drawing/2014/main" id="{B8853FD6-F6F9-7B3B-C9C9-7057950BC9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0283848"/>
              </p:ext>
            </p:extLst>
          </p:nvPr>
        </p:nvGraphicFramePr>
        <p:xfrm>
          <a:off x="284876" y="5239353"/>
          <a:ext cx="5393690" cy="109728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78230">
                  <a:extLst>
                    <a:ext uri="{9D8B030D-6E8A-4147-A177-3AD203B41FA5}">
                      <a16:colId xmlns:a16="http://schemas.microsoft.com/office/drawing/2014/main" val="1180926198"/>
                    </a:ext>
                  </a:extLst>
                </a:gridCol>
                <a:gridCol w="1078865">
                  <a:extLst>
                    <a:ext uri="{9D8B030D-6E8A-4147-A177-3AD203B41FA5}">
                      <a16:colId xmlns:a16="http://schemas.microsoft.com/office/drawing/2014/main" val="1323326810"/>
                    </a:ext>
                  </a:extLst>
                </a:gridCol>
                <a:gridCol w="1078865">
                  <a:extLst>
                    <a:ext uri="{9D8B030D-6E8A-4147-A177-3AD203B41FA5}">
                      <a16:colId xmlns:a16="http://schemas.microsoft.com/office/drawing/2014/main" val="4203017506"/>
                    </a:ext>
                  </a:extLst>
                </a:gridCol>
                <a:gridCol w="1078865">
                  <a:extLst>
                    <a:ext uri="{9D8B030D-6E8A-4147-A177-3AD203B41FA5}">
                      <a16:colId xmlns:a16="http://schemas.microsoft.com/office/drawing/2014/main" val="49048752"/>
                    </a:ext>
                  </a:extLst>
                </a:gridCol>
                <a:gridCol w="1078865">
                  <a:extLst>
                    <a:ext uri="{9D8B030D-6E8A-4147-A177-3AD203B41FA5}">
                      <a16:colId xmlns:a16="http://schemas.microsoft.com/office/drawing/2014/main" val="384564085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>
                          <a:effectLst/>
                        </a:rPr>
                        <a:t> h [cm]</a:t>
                      </a:r>
                      <a:endParaRPr lang="de-D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>
                          <a:effectLst/>
                        </a:rPr>
                        <a:t>t [cm]</a:t>
                      </a:r>
                      <a:endParaRPr lang="de-D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 dirty="0">
                          <a:effectLst/>
                        </a:rPr>
                        <a:t>n [</a:t>
                      </a:r>
                      <a:r>
                        <a:rPr lang="de-DE" sz="1200" dirty="0" err="1">
                          <a:effectLst/>
                        </a:rPr>
                        <a:t>deg</a:t>
                      </a:r>
                      <a:r>
                        <a:rPr lang="de-DE" sz="1200" dirty="0">
                          <a:effectLst/>
                        </a:rPr>
                        <a:t>]</a:t>
                      </a:r>
                      <a:endParaRPr lang="de-DE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>
                          <a:effectLst/>
                        </a:rPr>
                        <a:t>h [deg]</a:t>
                      </a:r>
                      <a:endParaRPr lang="de-D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>
                          <a:effectLst/>
                        </a:rPr>
                        <a:t>v [deg]</a:t>
                      </a:r>
                      <a:endParaRPr lang="de-D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24449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>
                          <a:effectLst/>
                        </a:rPr>
                        <a:t>170</a:t>
                      </a:r>
                      <a:endParaRPr lang="de-D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>
                          <a:effectLst/>
                        </a:rPr>
                        <a:t>200</a:t>
                      </a:r>
                      <a:endParaRPr lang="de-D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>
                          <a:effectLst/>
                        </a:rPr>
                        <a:t>2</a:t>
                      </a:r>
                      <a:endParaRPr lang="de-D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>
                          <a:effectLst/>
                        </a:rPr>
                        <a:t>92</a:t>
                      </a:r>
                      <a:endParaRPr lang="de-D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>
                          <a:effectLst/>
                        </a:rPr>
                        <a:t>60</a:t>
                      </a:r>
                      <a:endParaRPr lang="de-D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587671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>
                          <a:effectLst/>
                        </a:rPr>
                        <a:t>220</a:t>
                      </a:r>
                      <a:endParaRPr lang="de-D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>
                          <a:effectLst/>
                        </a:rPr>
                        <a:t>200</a:t>
                      </a:r>
                      <a:endParaRPr lang="de-D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>
                          <a:effectLst/>
                        </a:rPr>
                        <a:t>15</a:t>
                      </a:r>
                      <a:endParaRPr lang="de-D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>
                          <a:effectLst/>
                        </a:rPr>
                        <a:t>90</a:t>
                      </a:r>
                      <a:endParaRPr lang="de-D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>
                          <a:effectLst/>
                        </a:rPr>
                        <a:t>56</a:t>
                      </a:r>
                      <a:endParaRPr lang="de-D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392681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>
                          <a:effectLst/>
                        </a:rPr>
                        <a:t>270</a:t>
                      </a:r>
                      <a:endParaRPr lang="de-D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>
                          <a:effectLst/>
                        </a:rPr>
                        <a:t>200</a:t>
                      </a:r>
                      <a:endParaRPr lang="de-D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>
                          <a:effectLst/>
                        </a:rPr>
                        <a:t>27</a:t>
                      </a:r>
                      <a:endParaRPr lang="de-D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>
                          <a:effectLst/>
                        </a:rPr>
                        <a:t>84</a:t>
                      </a:r>
                      <a:endParaRPr lang="de-D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>
                          <a:effectLst/>
                        </a:rPr>
                        <a:t>51</a:t>
                      </a:r>
                      <a:endParaRPr lang="de-D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730019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>
                          <a:effectLst/>
                        </a:rPr>
                        <a:t>270</a:t>
                      </a:r>
                      <a:endParaRPr lang="de-D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>
                          <a:effectLst/>
                        </a:rPr>
                        <a:t>150</a:t>
                      </a:r>
                      <a:endParaRPr lang="de-D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>
                          <a:effectLst/>
                        </a:rPr>
                        <a:t>32</a:t>
                      </a:r>
                      <a:endParaRPr lang="de-D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>
                          <a:effectLst/>
                        </a:rPr>
                        <a:t>102</a:t>
                      </a:r>
                      <a:endParaRPr lang="de-D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>
                          <a:effectLst/>
                        </a:rPr>
                        <a:t>61</a:t>
                      </a:r>
                      <a:endParaRPr lang="de-D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959682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>
                          <a:effectLst/>
                        </a:rPr>
                        <a:t>270</a:t>
                      </a:r>
                      <a:endParaRPr lang="de-D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>
                          <a:effectLst/>
                        </a:rPr>
                        <a:t>100</a:t>
                      </a:r>
                      <a:endParaRPr lang="de-D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>
                          <a:effectLst/>
                        </a:rPr>
                        <a:t>45</a:t>
                      </a:r>
                      <a:endParaRPr lang="de-D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>
                          <a:effectLst/>
                        </a:rPr>
                        <a:t>127</a:t>
                      </a:r>
                      <a:endParaRPr lang="de-D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 dirty="0">
                          <a:effectLst/>
                        </a:rPr>
                        <a:t>82</a:t>
                      </a:r>
                      <a:endParaRPr lang="de-DE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68440113"/>
                  </a:ext>
                </a:extLst>
              </a:tr>
            </a:tbl>
          </a:graphicData>
        </a:graphic>
      </p:graphicFrame>
      <p:graphicFrame>
        <p:nvGraphicFramePr>
          <p:cNvPr id="8" name="Tabelle 7">
            <a:extLst>
              <a:ext uri="{FF2B5EF4-FFF2-40B4-BE49-F238E27FC236}">
                <a16:creationId xmlns:a16="http://schemas.microsoft.com/office/drawing/2014/main" id="{D68A206E-B7C1-C78E-85CB-F4896D9E09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166485"/>
              </p:ext>
            </p:extLst>
          </p:nvPr>
        </p:nvGraphicFramePr>
        <p:xfrm>
          <a:off x="5960110" y="5775093"/>
          <a:ext cx="5393690" cy="3657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78230">
                  <a:extLst>
                    <a:ext uri="{9D8B030D-6E8A-4147-A177-3AD203B41FA5}">
                      <a16:colId xmlns:a16="http://schemas.microsoft.com/office/drawing/2014/main" val="1521300830"/>
                    </a:ext>
                  </a:extLst>
                </a:gridCol>
                <a:gridCol w="1078865">
                  <a:extLst>
                    <a:ext uri="{9D8B030D-6E8A-4147-A177-3AD203B41FA5}">
                      <a16:colId xmlns:a16="http://schemas.microsoft.com/office/drawing/2014/main" val="1940734212"/>
                    </a:ext>
                  </a:extLst>
                </a:gridCol>
                <a:gridCol w="1078865">
                  <a:extLst>
                    <a:ext uri="{9D8B030D-6E8A-4147-A177-3AD203B41FA5}">
                      <a16:colId xmlns:a16="http://schemas.microsoft.com/office/drawing/2014/main" val="3030317347"/>
                    </a:ext>
                  </a:extLst>
                </a:gridCol>
                <a:gridCol w="1078865">
                  <a:extLst>
                    <a:ext uri="{9D8B030D-6E8A-4147-A177-3AD203B41FA5}">
                      <a16:colId xmlns:a16="http://schemas.microsoft.com/office/drawing/2014/main" val="2855706319"/>
                    </a:ext>
                  </a:extLst>
                </a:gridCol>
                <a:gridCol w="1078865">
                  <a:extLst>
                    <a:ext uri="{9D8B030D-6E8A-4147-A177-3AD203B41FA5}">
                      <a16:colId xmlns:a16="http://schemas.microsoft.com/office/drawing/2014/main" val="395315313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>
                          <a:effectLst/>
                        </a:rPr>
                        <a:t> h [cm]</a:t>
                      </a:r>
                      <a:endParaRPr lang="de-D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 dirty="0">
                          <a:effectLst/>
                        </a:rPr>
                        <a:t>t [cm]</a:t>
                      </a:r>
                      <a:endParaRPr lang="de-DE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 dirty="0">
                          <a:effectLst/>
                        </a:rPr>
                        <a:t>n [</a:t>
                      </a:r>
                      <a:r>
                        <a:rPr lang="de-DE" sz="1200" dirty="0" err="1">
                          <a:effectLst/>
                        </a:rPr>
                        <a:t>deg</a:t>
                      </a:r>
                      <a:r>
                        <a:rPr lang="de-DE" sz="1200" dirty="0">
                          <a:effectLst/>
                        </a:rPr>
                        <a:t>]</a:t>
                      </a:r>
                      <a:endParaRPr lang="de-DE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>
                          <a:effectLst/>
                        </a:rPr>
                        <a:t>h [deg]</a:t>
                      </a:r>
                      <a:endParaRPr lang="de-D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>
                          <a:effectLst/>
                        </a:rPr>
                        <a:t>v [deg]</a:t>
                      </a:r>
                      <a:endParaRPr lang="de-D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357016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>
                          <a:effectLst/>
                        </a:rPr>
                        <a:t>270</a:t>
                      </a:r>
                      <a:endParaRPr lang="de-D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>
                          <a:effectLst/>
                        </a:rPr>
                        <a:t>235</a:t>
                      </a:r>
                      <a:endParaRPr lang="de-D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>
                          <a:effectLst/>
                        </a:rPr>
                        <a:t>23</a:t>
                      </a:r>
                      <a:endParaRPr lang="de-D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 dirty="0">
                          <a:effectLst/>
                        </a:rPr>
                        <a:t>85</a:t>
                      </a:r>
                      <a:endParaRPr lang="de-DE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 dirty="0">
                          <a:effectLst/>
                        </a:rPr>
                        <a:t>45</a:t>
                      </a:r>
                      <a:endParaRPr lang="de-DE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70188284"/>
                  </a:ext>
                </a:extLst>
              </a:tr>
            </a:tbl>
          </a:graphicData>
        </a:graphic>
      </p:graphicFrame>
      <p:sp>
        <p:nvSpPr>
          <p:cNvPr id="9" name="Rectangle 1">
            <a:extLst>
              <a:ext uri="{FF2B5EF4-FFF2-40B4-BE49-F238E27FC236}">
                <a16:creationId xmlns:a16="http://schemas.microsoft.com/office/drawing/2014/main" id="{E47A6B41-1DBF-67B6-6C2C-C9BD51815C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10325" y="5455436"/>
            <a:ext cx="3043975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45° Ausrichtung, Standzone 250 x 100 cm</a:t>
            </a:r>
            <a:endParaRPr kumimoji="0" lang="de-DE" altLang="de-DE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altLang="de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A3C32C38-B5D6-4E6F-E521-1B82783AB088}"/>
              </a:ext>
            </a:extLst>
          </p:cNvPr>
          <p:cNvSpPr txBox="1"/>
          <p:nvPr/>
        </p:nvSpPr>
        <p:spPr>
          <a:xfrm>
            <a:off x="284876" y="1571732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90° Ausrichtung, Standzone 160 x 100 cm</a:t>
            </a:r>
            <a:endParaRPr kumimoji="0" lang="de-DE" altLang="de-DE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64E1DD96-7C75-AE0C-718F-4CB9430FC6ED}"/>
              </a:ext>
            </a:extLst>
          </p:cNvPr>
          <p:cNvSpPr txBox="1"/>
          <p:nvPr/>
        </p:nvSpPr>
        <p:spPr>
          <a:xfrm>
            <a:off x="6094492" y="426094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45° Ausrichtung, Standzone 160 x 100 cm</a:t>
            </a:r>
            <a:endParaRPr kumimoji="0" lang="de-DE" altLang="de-DE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07434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65EECEC-BFCB-1481-75B7-E10E0549A0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Sichtfeld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0D18A46C-6872-AA03-7568-3E61CD6F2884}"/>
              </a:ext>
            </a:extLst>
          </p:cNvPr>
          <p:cNvSpPr txBox="1"/>
          <p:nvPr/>
        </p:nvSpPr>
        <p:spPr>
          <a:xfrm>
            <a:off x="484492" y="3203702"/>
            <a:ext cx="6939349" cy="27853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1800"/>
              </a:lnSpc>
              <a:spcAft>
                <a:spcPts val="1200"/>
              </a:spcAft>
              <a:buNone/>
            </a:pPr>
            <a:r>
              <a:rPr lang="de-DE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Mit der 45° Ausrichtung ist mindestens ein Sichtfeld von 70° x 45° notwendig, wenn es Die Eckposition werden soll. </a:t>
            </a:r>
          </a:p>
          <a:p>
            <a:pPr algn="just">
              <a:lnSpc>
                <a:spcPts val="1800"/>
              </a:lnSpc>
              <a:spcAft>
                <a:spcPts val="1200"/>
              </a:spcAft>
              <a:buNone/>
            </a:pPr>
            <a:r>
              <a:rPr lang="de-DE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Bei der 90° Ausrichtung wären es 84° x 51°. </a:t>
            </a:r>
          </a:p>
          <a:p>
            <a:pPr algn="just">
              <a:lnSpc>
                <a:spcPts val="1800"/>
              </a:lnSpc>
              <a:spcAft>
                <a:spcPts val="1200"/>
              </a:spcAft>
              <a:buNone/>
            </a:pPr>
            <a:r>
              <a:rPr lang="de-DE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Für eine Von-Vorne-Sicht mit der Höhe 170 cm, wären es 75° x 51° bzw. 92° x 60°. </a:t>
            </a:r>
          </a:p>
          <a:p>
            <a:pPr algn="just">
              <a:lnSpc>
                <a:spcPts val="1800"/>
              </a:lnSpc>
              <a:spcAft>
                <a:spcPts val="1200"/>
              </a:spcAft>
              <a:buNone/>
            </a:pPr>
            <a:r>
              <a:rPr lang="de-DE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Zusammengefasst lässt sich sagen das für die meisten und die relevanten Positionen ein Sichtfeld von 92° x 60° ausreicht, </a:t>
            </a:r>
          </a:p>
          <a:p>
            <a:pPr algn="just">
              <a:lnSpc>
                <a:spcPts val="1800"/>
              </a:lnSpc>
              <a:spcAft>
                <a:spcPts val="1200"/>
              </a:spcAft>
              <a:buNone/>
            </a:pPr>
            <a:r>
              <a:rPr lang="de-DE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Wabcams</a:t>
            </a:r>
            <a:r>
              <a:rPr lang="de-DE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haben meist eine Full HD Auflösung, 1920x1080 Pixel im Format 16 zu 9</a:t>
            </a:r>
            <a:r>
              <a:rPr lang="de-DE" dirty="0">
                <a:latin typeface="Times New Roman" panose="02020603050405020304" pitchFamily="18" charset="0"/>
                <a:ea typeface="Times New Roman" panose="02020603050405020304" pitchFamily="18" charset="0"/>
              </a:rPr>
              <a:t> und </a:t>
            </a:r>
            <a:r>
              <a:rPr lang="de-DE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dFOV</a:t>
            </a:r>
            <a:r>
              <a:rPr lang="de-DE" dirty="0">
                <a:latin typeface="Times New Roman" panose="02020603050405020304" pitchFamily="18" charset="0"/>
                <a:ea typeface="Times New Roman" panose="02020603050405020304" pitchFamily="18" charset="0"/>
              </a:rPr>
              <a:t> ist angegeben</a:t>
            </a:r>
            <a:endParaRPr lang="de-DE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ED156EFF-AE02-F230-18CB-9F898FD837A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2785" y="451534"/>
            <a:ext cx="3505636" cy="24783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Inhaltsplatzhalter 3">
            <a:extLst>
              <a:ext uri="{FF2B5EF4-FFF2-40B4-BE49-F238E27FC236}">
                <a16:creationId xmlns:a16="http://schemas.microsoft.com/office/drawing/2014/main" id="{21265BCE-4D5D-2A78-ACD4-8366CB3136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3841" y="555093"/>
            <a:ext cx="3242645" cy="22883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rafik 17">
            <a:extLst>
              <a:ext uri="{FF2B5EF4-FFF2-40B4-BE49-F238E27FC236}">
                <a16:creationId xmlns:a16="http://schemas.microsoft.com/office/drawing/2014/main" id="{093B8C52-5BF4-631D-31DF-45BA5C07D8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2557" y="4014569"/>
            <a:ext cx="4725212" cy="2082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87307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A02777A-5678-E568-28CD-A41D0FB28F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Berechnung </a:t>
            </a:r>
            <a:r>
              <a:rPr lang="de-DE" dirty="0" err="1"/>
              <a:t>dFOV</a:t>
            </a:r>
            <a:endParaRPr lang="de-DE" dirty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DB66E1E2-CE16-AA73-D524-2EE100B6355B}"/>
              </a:ext>
            </a:extLst>
          </p:cNvPr>
          <p:cNvSpPr txBox="1"/>
          <p:nvPr/>
        </p:nvSpPr>
        <p:spPr>
          <a:xfrm>
            <a:off x="595265" y="1552974"/>
            <a:ext cx="5606922" cy="1554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1800"/>
              </a:lnSpc>
              <a:spcAft>
                <a:spcPts val="1200"/>
              </a:spcAft>
              <a:buNone/>
            </a:pPr>
            <a:r>
              <a:rPr lang="de-DE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Wabcams</a:t>
            </a:r>
            <a:r>
              <a:rPr lang="de-DE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haben meist eine Full HD Auflösung, 1920x1080 Pixel im Format 16 zu 9</a:t>
            </a:r>
            <a:r>
              <a:rPr lang="de-DE" dirty="0">
                <a:latin typeface="Times New Roman" panose="02020603050405020304" pitchFamily="18" charset="0"/>
                <a:ea typeface="Times New Roman" panose="02020603050405020304" pitchFamily="18" charset="0"/>
              </a:rPr>
              <a:t> und </a:t>
            </a:r>
            <a:r>
              <a:rPr lang="de-DE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dFOV</a:t>
            </a:r>
            <a:r>
              <a:rPr lang="de-DE" dirty="0">
                <a:latin typeface="Times New Roman" panose="02020603050405020304" pitchFamily="18" charset="0"/>
                <a:ea typeface="Times New Roman" panose="02020603050405020304" pitchFamily="18" charset="0"/>
              </a:rPr>
              <a:t> ist angegeben</a:t>
            </a:r>
          </a:p>
          <a:p>
            <a:pPr algn="just">
              <a:lnSpc>
                <a:spcPts val="1800"/>
              </a:lnSpc>
              <a:spcAft>
                <a:spcPts val="1200"/>
              </a:spcAft>
            </a:pPr>
            <a:r>
              <a:rPr lang="de-DE" u="sng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  <a:hlinkClick r:id="rId2"/>
              </a:rPr>
              <a:t>Satz des Pythagoras</a:t>
            </a:r>
            <a:r>
              <a:rPr lang="de-DE" dirty="0">
                <a:latin typeface="Times New Roman" panose="02020603050405020304" pitchFamily="18" charset="0"/>
                <a:ea typeface="Times New Roman" panose="02020603050405020304" pitchFamily="18" charset="0"/>
              </a:rPr>
              <a:t> und Tangens-Funktion </a:t>
            </a:r>
            <a:endParaRPr lang="de-DE" dirty="0"/>
          </a:p>
          <a:p>
            <a:pPr algn="just">
              <a:lnSpc>
                <a:spcPts val="1800"/>
              </a:lnSpc>
              <a:spcAft>
                <a:spcPts val="1200"/>
              </a:spcAft>
              <a:buNone/>
            </a:pPr>
            <a:endParaRPr lang="de-DE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E2C71B0E-65F5-D483-9884-30F0B6C23A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265" y="3720974"/>
            <a:ext cx="5708774" cy="2515731"/>
          </a:xfrm>
          <a:prstGeom prst="rect">
            <a:avLst/>
          </a:prstGeom>
        </p:spPr>
      </p:pic>
      <p:sp>
        <p:nvSpPr>
          <p:cNvPr id="11" name="Textfeld 10">
            <a:extLst>
              <a:ext uri="{FF2B5EF4-FFF2-40B4-BE49-F238E27FC236}">
                <a16:creationId xmlns:a16="http://schemas.microsoft.com/office/drawing/2014/main" id="{558BD190-62B7-224E-E454-FDF835D9BF04}"/>
              </a:ext>
            </a:extLst>
          </p:cNvPr>
          <p:cNvSpPr txBox="1"/>
          <p:nvPr/>
        </p:nvSpPr>
        <p:spPr>
          <a:xfrm>
            <a:off x="595265" y="6147365"/>
            <a:ext cx="60975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200" dirty="0">
                <a:hlinkClick r:id="rId4"/>
              </a:rPr>
              <a:t>https://www.e-consystems.com/blog/camera/de/technologie/field-of-view-focal-length-everything-you-need-to-know/</a:t>
            </a:r>
            <a:r>
              <a:rPr lang="de-DE" sz="1200" dirty="0"/>
              <a:t> 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DFFE2D67-EA29-C3B0-BE71-C79B7BD57CC7}"/>
              </a:ext>
            </a:extLst>
          </p:cNvPr>
          <p:cNvSpPr txBox="1"/>
          <p:nvPr/>
        </p:nvSpPr>
        <p:spPr>
          <a:xfrm>
            <a:off x="7491717" y="1690688"/>
            <a:ext cx="38620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16/9 [</a:t>
            </a:r>
            <a:r>
              <a:rPr lang="de-DE" dirty="0" err="1"/>
              <a:t>meter</a:t>
            </a:r>
            <a:r>
              <a:rPr lang="de-DE" dirty="0"/>
              <a:t>] = tan(</a:t>
            </a:r>
            <a:r>
              <a:rPr lang="de-DE" dirty="0" err="1"/>
              <a:t>hFOV</a:t>
            </a:r>
            <a:r>
              <a:rPr lang="de-DE" dirty="0"/>
              <a:t>)/tan(</a:t>
            </a:r>
            <a:r>
              <a:rPr lang="de-DE" dirty="0" err="1"/>
              <a:t>vFOV</a:t>
            </a:r>
            <a:r>
              <a:rPr lang="de-DE" dirty="0"/>
              <a:t>) [°]</a:t>
            </a:r>
            <a:br>
              <a:rPr lang="de-DE" dirty="0"/>
            </a:br>
            <a:r>
              <a:rPr lang="de-DE" dirty="0"/>
              <a:t>ChatGPT code:</a:t>
            </a:r>
          </a:p>
        </p:txBody>
      </p:sp>
      <p:pic>
        <p:nvPicPr>
          <p:cNvPr id="22" name="Grafik 21">
            <a:extLst>
              <a:ext uri="{FF2B5EF4-FFF2-40B4-BE49-F238E27FC236}">
                <a16:creationId xmlns:a16="http://schemas.microsoft.com/office/drawing/2014/main" id="{440A725B-9988-64DC-FE9F-E4B4ED810C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1717" y="2546639"/>
            <a:ext cx="3113011" cy="2620673"/>
          </a:xfrm>
          <a:prstGeom prst="rect">
            <a:avLst/>
          </a:prstGeom>
        </p:spPr>
      </p:pic>
      <p:sp>
        <p:nvSpPr>
          <p:cNvPr id="24" name="Textfeld 23">
            <a:extLst>
              <a:ext uri="{FF2B5EF4-FFF2-40B4-BE49-F238E27FC236}">
                <a16:creationId xmlns:a16="http://schemas.microsoft.com/office/drawing/2014/main" id="{C7756D11-A997-BC60-A3EC-2BECCE79EE11}"/>
              </a:ext>
            </a:extLst>
          </p:cNvPr>
          <p:cNvSpPr txBox="1"/>
          <p:nvPr/>
        </p:nvSpPr>
        <p:spPr>
          <a:xfrm>
            <a:off x="6819307" y="5362534"/>
            <a:ext cx="260345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200" dirty="0"/>
              <a:t>Hinreichendes FOV:</a:t>
            </a:r>
            <a:br>
              <a:rPr lang="de-DE" sz="1200" dirty="0"/>
            </a:br>
            <a:r>
              <a:rPr lang="de-DE" sz="1200" dirty="0"/>
              <a:t>Neuer horizontaler </a:t>
            </a:r>
            <a:r>
              <a:rPr lang="de-DE" sz="1200" dirty="0" err="1"/>
              <a:t>FoV</a:t>
            </a:r>
            <a:r>
              <a:rPr lang="de-DE" sz="1200" dirty="0"/>
              <a:t>: 107.00°</a:t>
            </a:r>
          </a:p>
          <a:p>
            <a:r>
              <a:rPr lang="de-DE" sz="1200" dirty="0"/>
              <a:t>Neuer vertikaler </a:t>
            </a:r>
            <a:r>
              <a:rPr lang="de-DE" sz="1200" dirty="0" err="1"/>
              <a:t>FoV</a:t>
            </a:r>
            <a:r>
              <a:rPr lang="de-DE" sz="1200" dirty="0"/>
              <a:t>:   74.48°</a:t>
            </a:r>
          </a:p>
          <a:p>
            <a:r>
              <a:rPr lang="de-DE" sz="1200" dirty="0"/>
              <a:t>Horizontaler </a:t>
            </a:r>
            <a:r>
              <a:rPr lang="de-DE" sz="1200" dirty="0" err="1"/>
              <a:t>FoV</a:t>
            </a:r>
            <a:r>
              <a:rPr lang="de-DE" sz="1200" dirty="0"/>
              <a:t>: 107.0°</a:t>
            </a:r>
          </a:p>
          <a:p>
            <a:r>
              <a:rPr lang="de-DE" sz="1200" dirty="0"/>
              <a:t>Vertikaler </a:t>
            </a:r>
            <a:r>
              <a:rPr lang="de-DE" sz="1200" dirty="0" err="1"/>
              <a:t>FoV</a:t>
            </a:r>
            <a:r>
              <a:rPr lang="de-DE" sz="1200" dirty="0"/>
              <a:t>:   74.48238711564953°</a:t>
            </a:r>
          </a:p>
          <a:p>
            <a:r>
              <a:rPr lang="de-DE" sz="1200" dirty="0"/>
              <a:t>Diagonaler </a:t>
            </a:r>
            <a:r>
              <a:rPr lang="de-DE" sz="1200" dirty="0" err="1"/>
              <a:t>FoV</a:t>
            </a:r>
            <a:r>
              <a:rPr lang="de-DE" sz="1200" dirty="0"/>
              <a:t>:   114.36°</a:t>
            </a: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F5A134C1-E1F8-59B9-569A-9FF50528774C}"/>
              </a:ext>
            </a:extLst>
          </p:cNvPr>
          <p:cNvSpPr txBox="1"/>
          <p:nvPr/>
        </p:nvSpPr>
        <p:spPr>
          <a:xfrm>
            <a:off x="9422758" y="5408700"/>
            <a:ext cx="263236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200" dirty="0"/>
              <a:t>Minimales FOV</a:t>
            </a:r>
          </a:p>
          <a:p>
            <a:r>
              <a:rPr lang="de-DE" sz="1200" dirty="0"/>
              <a:t>Neuer horizontaler </a:t>
            </a:r>
            <a:r>
              <a:rPr lang="de-DE" sz="1200" dirty="0" err="1"/>
              <a:t>FoV</a:t>
            </a:r>
            <a:r>
              <a:rPr lang="de-DE" sz="1200" dirty="0"/>
              <a:t>: 72.73°</a:t>
            </a:r>
          </a:p>
          <a:p>
            <a:r>
              <a:rPr lang="de-DE" sz="1200" dirty="0"/>
              <a:t>Neuer vertikaler </a:t>
            </a:r>
            <a:r>
              <a:rPr lang="de-DE" sz="1200" dirty="0" err="1"/>
              <a:t>FoV</a:t>
            </a:r>
            <a:r>
              <a:rPr lang="de-DE" sz="1200" dirty="0"/>
              <a:t>:   45.00°</a:t>
            </a:r>
          </a:p>
          <a:p>
            <a:r>
              <a:rPr lang="de-DE" sz="1200" dirty="0"/>
              <a:t>Horizontaler </a:t>
            </a:r>
            <a:r>
              <a:rPr lang="de-DE" sz="1200" dirty="0" err="1"/>
              <a:t>FoV</a:t>
            </a:r>
            <a:r>
              <a:rPr lang="de-DE" sz="1200" dirty="0"/>
              <a:t>: 72.734351410049°</a:t>
            </a:r>
          </a:p>
          <a:p>
            <a:r>
              <a:rPr lang="de-DE" sz="1200" dirty="0"/>
              <a:t>Vertikaler </a:t>
            </a:r>
            <a:r>
              <a:rPr lang="de-DE" sz="1200" dirty="0" err="1"/>
              <a:t>FoV</a:t>
            </a:r>
            <a:r>
              <a:rPr lang="de-DE" sz="1200" dirty="0"/>
              <a:t>:   45.0°</a:t>
            </a:r>
          </a:p>
          <a:p>
            <a:r>
              <a:rPr lang="de-DE" sz="1200" dirty="0"/>
              <a:t>Diagonaler </a:t>
            </a:r>
            <a:r>
              <a:rPr lang="de-DE" sz="1200" dirty="0" err="1"/>
              <a:t>FoV</a:t>
            </a:r>
            <a:r>
              <a:rPr lang="de-DE" sz="1200" dirty="0"/>
              <a:t>:   80.39°</a:t>
            </a:r>
          </a:p>
        </p:txBody>
      </p:sp>
    </p:spTree>
    <p:extLst>
      <p:ext uri="{BB962C8B-B14F-4D97-AF65-F5344CB8AC3E}">
        <p14:creationId xmlns:p14="http://schemas.microsoft.com/office/powerpoint/2010/main" val="23638059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7510CEE-8F0D-7EC7-8D19-5B9EC4E54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2D oder 3D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8C69EEB-26FC-4EA1-CCC7-C293597133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de-DE" dirty="0"/>
              <a:t>3D-Kamera: </a:t>
            </a:r>
          </a:p>
          <a:p>
            <a:pPr lvl="0"/>
            <a:r>
              <a:rPr lang="de-DE" dirty="0"/>
              <a:t>kleineres FOV, geringer als das </a:t>
            </a:r>
            <a:r>
              <a:rPr lang="de-DE" u="sng" dirty="0">
                <a:hlinkClick r:id="rId2" action="ppaction://hlinkfile"/>
              </a:rPr>
              <a:t>hinreichende-FOV</a:t>
            </a:r>
            <a:r>
              <a:rPr lang="de-DE" dirty="0"/>
              <a:t> aus dem Kapitel: </a:t>
            </a:r>
            <a:r>
              <a:rPr lang="de-DE" u="sng" dirty="0">
                <a:hlinkClick r:id="rId3" action="ppaction://hlinkfile"/>
              </a:rPr>
              <a:t>Projektanforderungen an die Kamera</a:t>
            </a:r>
            <a:r>
              <a:rPr lang="de-DE" dirty="0"/>
              <a:t> – Einschränkungen von Kameraposition, Standzone und ggf. berücksichtigte Personengröße müssen getroffen werden.</a:t>
            </a:r>
          </a:p>
          <a:p>
            <a:pPr lvl="0"/>
            <a:r>
              <a:rPr lang="de-DE" dirty="0"/>
              <a:t>Teurer in der Anschaffung</a:t>
            </a:r>
          </a:p>
          <a:p>
            <a:pPr lvl="0"/>
            <a:r>
              <a:rPr lang="de-DE" dirty="0"/>
              <a:t>Spezielle Treibersoftware ist nötig – Kompatibilität zur Bildverarbeitungssoftware und ggf. Prozessorarchitektur der Recheneinheit muss gegeben sein</a:t>
            </a:r>
          </a:p>
          <a:p>
            <a:r>
              <a:rPr lang="de-DE" dirty="0"/>
              <a:t> </a:t>
            </a:r>
          </a:p>
          <a:p>
            <a:pPr lvl="0"/>
            <a:r>
              <a:rPr lang="de-DE" dirty="0"/>
              <a:t>3D-Informationen kommen direkt vom Sensor und müssen nicht erst aus den 2D-Informationen gewonnen werden – eine einfachere und genauere Armwinkelerkennung ist zu erwarten.</a:t>
            </a:r>
          </a:p>
          <a:p>
            <a:r>
              <a:rPr lang="de-DE" dirty="0"/>
              <a:t> </a:t>
            </a:r>
          </a:p>
          <a:p>
            <a:r>
              <a:rPr lang="de-DE" dirty="0"/>
              <a:t>2D-Kamera:</a:t>
            </a:r>
          </a:p>
          <a:p>
            <a:pPr lvl="0"/>
            <a:r>
              <a:rPr lang="de-DE" dirty="0"/>
              <a:t>Armwinkel muss auf der Grundlage von 3D-Informationen erkannt werden – gegebenenfalls muss mit einer 2D-winkelerkennung vorliegt genommen werden</a:t>
            </a:r>
          </a:p>
          <a:p>
            <a:pPr lvl="0"/>
            <a:r>
              <a:rPr lang="de-DE" dirty="0"/>
              <a:t>zur Abdeckung des hinreichenden-FOVs, ist eine Ultraweitwinkelkamera notwendig – Die Armwinkelberechnung muss entzerrt werden, wenn auch der Randbereich einer Weitwinkelkamera genutzt werden soll.</a:t>
            </a:r>
          </a:p>
          <a:p>
            <a:r>
              <a:rPr lang="de-DE" dirty="0"/>
              <a:t> </a:t>
            </a:r>
          </a:p>
          <a:p>
            <a:pPr lvl="0"/>
            <a:r>
              <a:rPr lang="de-DE" dirty="0"/>
              <a:t>günstig in der Anschaffung </a:t>
            </a:r>
          </a:p>
          <a:p>
            <a:r>
              <a:rPr lang="de-DE" dirty="0"/>
              <a:t> </a:t>
            </a:r>
          </a:p>
          <a:p>
            <a:pPr lvl="0"/>
            <a:r>
              <a:rPr lang="de-DE" dirty="0"/>
              <a:t>uneingeschränkte Kompatibilität zu anderen Projektkomponenten 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44431447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C771F4EE-4140-E75D-04BD-D9F232303B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7141" y="223837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2"/>
              </a:rPr>
              <a:t>Intel RealSense Tiefenkamera D435i</a:t>
            </a:r>
            <a:r>
              <a:rPr kumimoji="0" lang="de-DE" altLang="de-DE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379 €</a:t>
            </a:r>
            <a:endParaRPr kumimoji="0" lang="de-DE" altLang="de-DE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altLang="de-D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169" name="Grafik 9">
            <a:extLst>
              <a:ext uri="{FF2B5EF4-FFF2-40B4-BE49-F238E27FC236}">
                <a16:creationId xmlns:a16="http://schemas.microsoft.com/office/drawing/2014/main" id="{F27CC9A4-178A-2939-875E-2DB573D5B7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595" y="681037"/>
            <a:ext cx="3640706" cy="36407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9FAB0338-4D40-8455-E3DA-101DC7790A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7141" y="5443537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1280 x 720p bei 30 Bis zu 90 fps </a:t>
            </a:r>
            <a:endParaRPr kumimoji="0" lang="de-DE" altLang="de-DE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de-DE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H:87 V:58</a:t>
            </a:r>
            <a:endParaRPr kumimoji="0" lang="de-DE" altLang="de-DE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de-DE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0.3-3m</a:t>
            </a:r>
            <a:endParaRPr kumimoji="0" lang="de-DE" altLang="de-DE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de-DE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90mx25mx25m</a:t>
            </a:r>
            <a:endParaRPr kumimoji="0" lang="de-DE" altLang="de-DE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de-DE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Industriestandart</a:t>
            </a:r>
            <a:endParaRPr kumimoji="0" lang="en-US" altLang="de-D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D3B8DF4-ECA9-0662-B8FD-A86B860FF4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223837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de-DE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4"/>
              </a:rPr>
              <a:t>Nuwa-HP60C Depth Camera</a:t>
            </a:r>
            <a:r>
              <a:rPr kumimoji="0" lang="en-US" altLang="de-DE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160 €</a:t>
            </a:r>
            <a:endParaRPr kumimoji="0" lang="de-DE" altLang="de-DE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altLang="de-D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172" name="Grafik 10">
            <a:extLst>
              <a:ext uri="{FF2B5EF4-FFF2-40B4-BE49-F238E27FC236}">
                <a16:creationId xmlns:a16="http://schemas.microsoft.com/office/drawing/2014/main" id="{75823DD7-81EC-D7CB-C6BC-10AAC3F9A2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8046" y="701616"/>
            <a:ext cx="4033252" cy="4054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FB3C7DD-F7BF-93FA-89A3-614F3A9A63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9727" y="5420802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Unterstützt ROS 1 und 2</a:t>
            </a:r>
            <a:endParaRPr kumimoji="0" lang="de-DE" altLang="de-DE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72,8° x 58,8° ~ 73° x 59°</a:t>
            </a:r>
            <a:endParaRPr kumimoji="0" lang="de-DE" altLang="de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94E8740D-2B3F-AE2A-87DC-14F7DBE154C2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935"/>
          <a:stretch>
            <a:fillRect/>
          </a:stretch>
        </p:blipFill>
        <p:spPr bwMode="auto">
          <a:xfrm>
            <a:off x="9144212" y="101766"/>
            <a:ext cx="2541515" cy="623712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163185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2DBD5F-4579-2B69-F00C-5BBEFA6A7D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C9F2717C-51A9-601E-F678-27DEB074C5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1664" y="267952"/>
            <a:ext cx="8792997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de-DE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2"/>
              </a:rPr>
              <a:t>EMEET Webcam 1080P</a:t>
            </a:r>
            <a:r>
              <a:rPr kumimoji="0" lang="en-US" altLang="de-DE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32€ </a:t>
            </a:r>
            <a:endParaRPr kumimoji="0" lang="de-DE" altLang="de-DE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altLang="de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217" name="Grafik 11">
            <a:extLst>
              <a:ext uri="{FF2B5EF4-FFF2-40B4-BE49-F238E27FC236}">
                <a16:creationId xmlns:a16="http://schemas.microsoft.com/office/drawing/2014/main" id="{54D97C95-D422-13EB-7403-09948C1638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9533" y="821950"/>
            <a:ext cx="3233269" cy="35925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BF6E3007-4F5F-1F21-0C31-B1918C77E8F7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8037094" y="4968469"/>
            <a:ext cx="276245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de-DE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NOVA Webcam </a:t>
            </a:r>
            <a:r>
              <a:rPr kumimoji="0" lang="en-US" altLang="de-DE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mit</a:t>
            </a:r>
            <a:r>
              <a:rPr kumimoji="0" lang="en-US" altLang="de-DE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kumimoji="0" lang="en-US" altLang="de-DE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Autofokus</a:t>
            </a:r>
            <a:r>
              <a:rPr kumimoji="0" lang="en-US" altLang="de-DE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, </a:t>
            </a:r>
            <a:endParaRPr kumimoji="0" lang="de-DE" altLang="de-DE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de-DE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Full HD Webcam</a:t>
            </a:r>
            <a:endParaRPr kumimoji="0" lang="de-DE" altLang="de-DE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de-DE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96° </a:t>
            </a:r>
            <a:r>
              <a:rPr kumimoji="0" lang="en-US" altLang="de-DE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Weitwinkel</a:t>
            </a:r>
            <a:endParaRPr kumimoji="0" lang="en-US" altLang="de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44FC994-EB0E-1FB6-6477-27B2C535AA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02761"/>
            <a:ext cx="6583884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de-DE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4"/>
              </a:rPr>
              <a:t>EMEET Full HD Webcam - C960 1080P</a:t>
            </a:r>
            <a:r>
              <a:rPr kumimoji="0" lang="en-US" altLang="de-DE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28 €</a:t>
            </a:r>
            <a:endParaRPr kumimoji="0" lang="de-DE" altLang="de-DE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altLang="de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220" name="Grafik 15">
            <a:extLst>
              <a:ext uri="{FF2B5EF4-FFF2-40B4-BE49-F238E27FC236}">
                <a16:creationId xmlns:a16="http://schemas.microsoft.com/office/drawing/2014/main" id="{109582B9-5109-1796-B3F9-27872A6C4B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861" y="970758"/>
            <a:ext cx="3769540" cy="4148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4F4AAB0-E785-42DB-1EE1-5007C8F7A8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993" y="5656409"/>
            <a:ext cx="127980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90°</a:t>
            </a:r>
            <a:endParaRPr kumimoji="0" lang="de-DE" altLang="de-DE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Full HD</a:t>
            </a:r>
            <a:endParaRPr kumimoji="0" lang="de-DE" altLang="de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202469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Grafik 14">
            <a:extLst>
              <a:ext uri="{FF2B5EF4-FFF2-40B4-BE49-F238E27FC236}">
                <a16:creationId xmlns:a16="http://schemas.microsoft.com/office/drawing/2014/main" id="{B37642B0-CBB7-EC08-6BCF-F198631341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57200"/>
            <a:ext cx="3800475" cy="3743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1" name="Grafik 13">
            <a:extLst>
              <a:ext uri="{FF2B5EF4-FFF2-40B4-BE49-F238E27FC236}">
                <a16:creationId xmlns:a16="http://schemas.microsoft.com/office/drawing/2014/main" id="{F91A737A-4EFB-6713-F40D-E857DC570F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3052" y="1205903"/>
            <a:ext cx="2825209" cy="29946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1C4A5B7-06AB-B8E8-D1C9-3F82767529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4"/>
              </a:rPr>
              <a:t>vpro 16MP USB Kamera Weitwinkel 120 Grad</a:t>
            </a:r>
            <a:r>
              <a:rPr kumimoji="0" lang="de-DE" altLang="de-DE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90€</a:t>
            </a:r>
            <a:endParaRPr kumimoji="0" lang="de-DE" altLang="de-DE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altLang="de-D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E27F6C0-6055-23D8-C62D-0279F67662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37426" y="457200"/>
            <a:ext cx="4381777" cy="677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altLang="de-DE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5"/>
              </a:rPr>
              <a:t>Svpro</a:t>
            </a:r>
            <a:r>
              <a:rPr kumimoji="0" lang="de-DE" altLang="de-DE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5"/>
              </a:rPr>
              <a:t> 5MP 30FPS USB Kameramodul mit M12 120 Grad</a:t>
            </a:r>
            <a:r>
              <a:rPr kumimoji="0" lang="de-DE" altLang="de-DE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64€</a:t>
            </a:r>
            <a:endParaRPr kumimoji="0" lang="de-DE" altLang="de-DE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altLang="de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684B28-492A-8ED2-5021-A749665DD9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06072" y="4755292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Videoaufnahmeauflösung	1944p,1080p</a:t>
            </a:r>
            <a:endParaRPr kumimoji="0" lang="de-DE" altLang="de-DE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120°</a:t>
            </a:r>
            <a:endParaRPr kumimoji="0" lang="de-DE" altLang="de-DE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30fps</a:t>
            </a:r>
            <a:endParaRPr kumimoji="0" lang="de-DE" altLang="de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3AEA2A85-CD83-9D1A-3705-6EC1E6DD682C}"/>
              </a:ext>
            </a:extLst>
          </p:cNvPr>
          <p:cNvSpPr txBox="1"/>
          <p:nvPr/>
        </p:nvSpPr>
        <p:spPr>
          <a:xfrm>
            <a:off x="239917" y="4750827"/>
            <a:ext cx="63661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Videoaufnahmeauflösung</a:t>
            </a:r>
            <a:r>
              <a:rPr lang="de-DE" altLang="de-DE" sz="1200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kumimoji="0" lang="de-DE" altLang="de-DE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3496p,2160p,2448p,1944p,1080p</a:t>
            </a:r>
            <a:endParaRPr kumimoji="0" lang="de-DE" altLang="de-DE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120°</a:t>
            </a:r>
          </a:p>
        </p:txBody>
      </p:sp>
    </p:spTree>
    <p:extLst>
      <p:ext uri="{BB962C8B-B14F-4D97-AF65-F5344CB8AC3E}">
        <p14:creationId xmlns:p14="http://schemas.microsoft.com/office/powerpoint/2010/main" val="33185309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1AAEC62B-3969-D020-0C78-CA25F0BC45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2"/>
              </a:rPr>
              <a:t>Svpro USB Kamera Mit Zwei Objektiven</a:t>
            </a:r>
            <a:r>
              <a:rPr kumimoji="0" lang="de-DE" altLang="de-DE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100€ </a:t>
            </a:r>
            <a:endParaRPr kumimoji="0" lang="de-DE" altLang="de-DE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altLang="de-D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1265" name="Grafik 12">
            <a:extLst>
              <a:ext uri="{FF2B5EF4-FFF2-40B4-BE49-F238E27FC236}">
                <a16:creationId xmlns:a16="http://schemas.microsoft.com/office/drawing/2014/main" id="{14C81297-8768-5668-F107-398CB3014E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258" y="681037"/>
            <a:ext cx="3022333" cy="30436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FA885F5E-6EFA-5A69-AAD4-C9CADD49EE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005" y="4119848"/>
            <a:ext cx="5303519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1431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1431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1431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1431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1431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1431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1431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1431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1431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431925" algn="l"/>
              </a:tabLst>
            </a:pPr>
            <a:r>
              <a:rPr kumimoji="0" lang="de-DE" altLang="de-DE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1080P 60fps </a:t>
            </a:r>
            <a:r>
              <a:rPr kumimoji="0" lang="de-DE" altLang="de-DE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Hochgeschwindigkeits</a:t>
            </a:r>
            <a:r>
              <a:rPr kumimoji="0" lang="de-DE" altLang="de-DE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UVC Industriekamera Board Synchronisation PC, Lightburn Fernglas Lasergravur Kameraboard für 3D VR Biometrie</a:t>
            </a:r>
            <a:endParaRPr kumimoji="0" lang="de-DE" altLang="de-DE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431925" algn="l"/>
              </a:tabLst>
            </a:pPr>
            <a:r>
              <a:rPr kumimoji="0" lang="de-DE" altLang="de-DE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85° 120° oder 195°	</a:t>
            </a:r>
            <a:endParaRPr kumimoji="0" lang="de-DE" altLang="de-DE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431925" algn="l"/>
              </a:tabLst>
            </a:pPr>
            <a:r>
              <a:rPr kumimoji="0" lang="de-DE" altLang="de-DE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3840x1080 und hoher Geschwindigkeit 60fps.</a:t>
            </a:r>
            <a:endParaRPr kumimoji="0" lang="de-DE" altLang="de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6" name="Tabelle 5">
            <a:extLst>
              <a:ext uri="{FF2B5EF4-FFF2-40B4-BE49-F238E27FC236}">
                <a16:creationId xmlns:a16="http://schemas.microsoft.com/office/drawing/2014/main" id="{3CAE5A5D-2018-BA0A-0454-4834964580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3927621"/>
              </p:ext>
            </p:extLst>
          </p:nvPr>
        </p:nvGraphicFramePr>
        <p:xfrm>
          <a:off x="7772781" y="5458984"/>
          <a:ext cx="2237491" cy="9144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237491">
                  <a:extLst>
                    <a:ext uri="{9D8B030D-6E8A-4147-A177-3AD203B41FA5}">
                      <a16:colId xmlns:a16="http://schemas.microsoft.com/office/drawing/2014/main" val="7726558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 dirty="0">
                          <a:effectLst/>
                        </a:rPr>
                        <a:t>RGB 1920 x 1080 (Full HD)</a:t>
                      </a:r>
                      <a:endParaRPr lang="de-DE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660978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 dirty="0">
                          <a:effectLst/>
                        </a:rPr>
                        <a:t>Tiefe 512 x 424</a:t>
                      </a:r>
                      <a:endParaRPr lang="de-DE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84155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 dirty="0">
                          <a:effectLst/>
                        </a:rPr>
                        <a:t>RGB 84,1 x 53,8</a:t>
                      </a:r>
                      <a:endParaRPr lang="de-DE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812646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 dirty="0">
                          <a:effectLst/>
                        </a:rPr>
                        <a:t>Tiefe 70,6 x 60</a:t>
                      </a:r>
                      <a:endParaRPr lang="de-DE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196715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 dirty="0">
                          <a:effectLst/>
                        </a:rPr>
                        <a:t>30 </a:t>
                      </a:r>
                      <a:r>
                        <a:rPr lang="de-DE" sz="1200" dirty="0" err="1">
                          <a:effectLst/>
                        </a:rPr>
                        <a:t>fps</a:t>
                      </a:r>
                      <a:endParaRPr lang="de-DE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35473613"/>
                  </a:ext>
                </a:extLst>
              </a:tr>
            </a:tbl>
          </a:graphicData>
        </a:graphic>
      </p:graphicFrame>
      <p:sp>
        <p:nvSpPr>
          <p:cNvPr id="7" name="Rectangle 5">
            <a:extLst>
              <a:ext uri="{FF2B5EF4-FFF2-40B4-BE49-F238E27FC236}">
                <a16:creationId xmlns:a16="http://schemas.microsoft.com/office/drawing/2014/main" id="{D3654858-EFFB-84CC-8E7A-8A7ED1ABA7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7770" y="941816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1431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1431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1431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1431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1431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1431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1431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1431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1431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431925" algn="l"/>
              </a:tabLst>
            </a:pPr>
            <a:r>
              <a:rPr kumimoji="0" lang="en-US" altLang="de-DE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Microsoft Kinect v2 für Xbox One </a:t>
            </a:r>
            <a:r>
              <a:rPr kumimoji="0" lang="en-US" altLang="de-DE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4"/>
              </a:rPr>
              <a:t>54</a:t>
            </a:r>
            <a:r>
              <a:rPr kumimoji="0" lang="en-US" altLang="de-DE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€  </a:t>
            </a:r>
            <a:r>
              <a:rPr kumimoji="0" lang="en-US" altLang="de-DE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5"/>
              </a:rPr>
              <a:t>190</a:t>
            </a:r>
            <a:r>
              <a:rPr kumimoji="0" lang="en-US" altLang="de-DE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€ </a:t>
            </a:r>
            <a:r>
              <a:rPr kumimoji="0" lang="en-US" altLang="de-DE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6"/>
              </a:rPr>
              <a:t>115</a:t>
            </a:r>
            <a:r>
              <a:rPr kumimoji="0" lang="en-US" altLang="de-DE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€</a:t>
            </a:r>
            <a:endParaRPr kumimoji="0" lang="de-DE" altLang="de-DE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431925" algn="l"/>
              </a:tabLst>
            </a:pPr>
            <a:r>
              <a:rPr kumimoji="0" lang="en-US" altLang="de-DE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endParaRPr kumimoji="0" lang="en-US" altLang="de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1268" name="Grafik 4">
            <a:extLst>
              <a:ext uri="{FF2B5EF4-FFF2-40B4-BE49-F238E27FC236}">
                <a16:creationId xmlns:a16="http://schemas.microsoft.com/office/drawing/2014/main" id="{DA015394-9531-E227-43A7-FB2D2A5230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7307" y="1457003"/>
            <a:ext cx="4968438" cy="34946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6">
            <a:extLst>
              <a:ext uri="{FF2B5EF4-FFF2-40B4-BE49-F238E27FC236}">
                <a16:creationId xmlns:a16="http://schemas.microsoft.com/office/drawing/2014/main" id="{9DBD8C6E-1990-7742-9CC2-2DEC13D0F3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9859" y="3736761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1969002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64249DF-989E-337E-681A-27D436F8B9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Onshape</a:t>
            </a:r>
            <a:r>
              <a:rPr lang="de-DE" dirty="0"/>
              <a:t> Modell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D90191F-7F20-C8F5-B9E3-656E3E11E8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749635"/>
            <a:ext cx="10515600" cy="427327"/>
          </a:xfrm>
        </p:spPr>
        <p:txBody>
          <a:bodyPr>
            <a:normAutofit/>
          </a:bodyPr>
          <a:lstStyle/>
          <a:p>
            <a:r>
              <a:rPr lang="de-DE" sz="1200" dirty="0">
                <a:hlinkClick r:id="rId2"/>
              </a:rPr>
              <a:t>https://cad.onshape.com/documents/00b008a3f533eca98fac5bba/w/b6eb2c8f02007af9c686e203/e/60674b425d3e898ddf7b70c7</a:t>
            </a:r>
            <a:r>
              <a:rPr lang="de-DE" sz="1200" dirty="0"/>
              <a:t> 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1B32A5BB-7195-45D0-F0D9-CBD6C3CF74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8870" y="1521462"/>
            <a:ext cx="7546145" cy="4087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22702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1609</Words>
  <Application>Microsoft Office PowerPoint</Application>
  <PresentationFormat>Breitbild</PresentationFormat>
  <Paragraphs>268</Paragraphs>
  <Slides>30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30</vt:i4>
      </vt:variant>
    </vt:vector>
  </HeadingPairs>
  <TitlesOfParts>
    <vt:vector size="35" baseType="lpstr">
      <vt:lpstr>Arial</vt:lpstr>
      <vt:lpstr>Calibri</vt:lpstr>
      <vt:lpstr>Calibri Light</vt:lpstr>
      <vt:lpstr>Times New Roman</vt:lpstr>
      <vt:lpstr>Office</vt:lpstr>
      <vt:lpstr>Komponentenwahl</vt:lpstr>
      <vt:lpstr>Komponenten ähnlicher Projekte</vt:lpstr>
      <vt:lpstr>Pose Estimation on Raspberry Pi - GitHub</vt:lpstr>
      <vt:lpstr>Gestensteuerung eines Roboters auf dem Nvidia Jetson Nano - blog.georgmill.de</vt:lpstr>
      <vt:lpstr>Sports2D - GitHub </vt:lpstr>
      <vt:lpstr>GestureBot Vision System - GitHab</vt:lpstr>
      <vt:lpstr>Mimic Robot - ECE5725 Spring 2019 Final Project - Mark Li (mkl53) and Serena Krech (sk2282) - Internet</vt:lpstr>
      <vt:lpstr>Recheneinheit </vt:lpstr>
      <vt:lpstr>Mini-PC</vt:lpstr>
      <vt:lpstr>Kein Notebook</vt:lpstr>
      <vt:lpstr>Softwarewahl</vt:lpstr>
      <vt:lpstr>Mediapipe und OpenCV</vt:lpstr>
      <vt:lpstr>Bildschirmwahl</vt:lpstr>
      <vt:lpstr>PowerPoint-Präsentation</vt:lpstr>
      <vt:lpstr>PowerPoint-Präsentation</vt:lpstr>
      <vt:lpstr>PowerPoint-Präsentation</vt:lpstr>
      <vt:lpstr>PowerPoint-Präsentation</vt:lpstr>
      <vt:lpstr>Kamerawahl</vt:lpstr>
      <vt:lpstr>Simulation: FOV, Standzone und Armbereich</vt:lpstr>
      <vt:lpstr>Zwei Ausrichtungen</vt:lpstr>
      <vt:lpstr>Räumliche Begrenzung</vt:lpstr>
      <vt:lpstr>Kamerapositionen</vt:lpstr>
      <vt:lpstr>Sichtfeld</vt:lpstr>
      <vt:lpstr>Berechnung dFOV</vt:lpstr>
      <vt:lpstr>2D oder 3D</vt:lpstr>
      <vt:lpstr>PowerPoint-Präsentation</vt:lpstr>
      <vt:lpstr>PowerPoint-Präsentation</vt:lpstr>
      <vt:lpstr>PowerPoint-Präsentation</vt:lpstr>
      <vt:lpstr>PowerPoint-Präsentation</vt:lpstr>
      <vt:lpstr>Onshape Modell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jonas w.</dc:creator>
  <cp:lastModifiedBy>jonas w.</cp:lastModifiedBy>
  <cp:revision>6</cp:revision>
  <dcterms:created xsi:type="dcterms:W3CDTF">2026-05-13T09:08:42Z</dcterms:created>
  <dcterms:modified xsi:type="dcterms:W3CDTF">2026-05-13T11:29:51Z</dcterms:modified>
</cp:coreProperties>
</file>